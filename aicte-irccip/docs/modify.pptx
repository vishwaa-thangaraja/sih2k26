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57" r:id="rId4"/>
    <p:sldId id="259" r:id="rId5"/>
    <p:sldId id="260" r:id="rId6"/>
    <p:sldId id="265" r:id="rId7"/>
  </p:sldIdLst>
  <p:sldSz cx="18288000" cy="10287000"/>
  <p:notesSz cx="6858000" cy="9144000"/>
  <p:embeddedFontLst>
    <p:embeddedFont>
      <p:font typeface="Agency FB" panose="020B0503020202020204" pitchFamily="34" charset="0"/>
      <p:regular r:id="rId9"/>
      <p:bold r:id="rId10"/>
    </p:embeddedFont>
    <p:embeddedFont>
      <p:font typeface="Arimo Bold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inzel Decorative Black" panose="020B0604020202020204" charset="0"/>
      <p:bold r:id="rId14"/>
    </p:embeddedFont>
    <p:embeddedFont>
      <p:font typeface="Garamond Bold" panose="02020804030307010803" pitchFamily="18" charset="0"/>
      <p:bold r:id="rId15"/>
    </p:embeddedFont>
    <p:embeddedFont>
      <p:font typeface="Times New Roman Bold" panose="02020803070505020304" pitchFamily="18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5E"/>
    <a:srgbClr val="4E6684"/>
    <a:srgbClr val="334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10.09.2026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6F20-7994-3A89-6907-8ACE1CE2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B64BB9-303B-FBC7-154A-238C6C9933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11AD2-DF42-B4F2-8F96-7A1DF73CC16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4EBB080-8C28-2595-48CC-A918FBEE8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AE89039-B37A-0C29-C4B0-84055C84E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59737-41A7-3A62-C62F-731287AFA6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159B8-C959-8C8B-C7FC-D91D945D7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46040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igilocker.gov.in/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www.skillindiadigital.gov.i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11" Type="http://schemas.openxmlformats.org/officeDocument/2006/relationships/hyperlink" Target="https://arxiv.org/list/cs.AI/recent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s://www.w3.org/TR/vc-data-model-2.0/" TargetMode="External"/><Relationship Id="rId4" Type="http://schemas.openxmlformats.org/officeDocument/2006/relationships/image" Target="../media/image5.jpeg"/><Relationship Id="rId9" Type="http://schemas.openxmlformats.org/officeDocument/2006/relationships/hyperlink" Target="https://apisetu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68000" y="2221995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alphaModFix amt="6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69231" y="-526619"/>
            <a:ext cx="13231869" cy="2651238"/>
            <a:chOff x="0" y="0"/>
            <a:chExt cx="20726400" cy="4152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0726400" cy="4162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319"/>
                </a:lnSpc>
              </a:pPr>
              <a:r>
                <a:rPr lang="en-US" sz="6099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1072" y="257831"/>
            <a:ext cx="16480528" cy="9690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65"/>
              </a:lnSpc>
            </a:pPr>
            <a:endParaRPr dirty="0"/>
          </a:p>
          <a:p>
            <a:pPr marL="951678" lvl="1" indent="-475839" algn="just">
              <a:lnSpc>
                <a:spcPts val="9465"/>
              </a:lnSpc>
              <a:buFont typeface="Arial"/>
              <a:buChar char="•"/>
            </a:pPr>
            <a:r>
              <a:rPr lang="en-US" sz="525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52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26135</a:t>
            </a:r>
          </a:p>
          <a:p>
            <a:pPr marL="951678" lvl="1" indent="-475839" algn="l">
              <a:lnSpc>
                <a:spcPts val="9465"/>
              </a:lnSpc>
              <a:buFont typeface="Arial"/>
              <a:buChar char="•"/>
            </a:pPr>
            <a:r>
              <a:rPr lang="en-US" sz="525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 </a:t>
            </a:r>
          </a:p>
          <a:p>
            <a:pPr algn="l">
              <a:lnSpc>
                <a:spcPts val="9465"/>
              </a:lnSpc>
            </a:pPr>
            <a:endParaRPr lang="en-US" sz="5258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51678" lvl="1" indent="-475839" algn="just">
              <a:lnSpc>
                <a:spcPts val="9465"/>
              </a:lnSpc>
              <a:buFont typeface="Arial"/>
              <a:buChar char="•"/>
            </a:pPr>
            <a:r>
              <a:rPr lang="en-US" sz="525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52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Miscellaneous</a:t>
            </a:r>
          </a:p>
          <a:p>
            <a:pPr marL="951678" lvl="1" indent="-475839" algn="just">
              <a:lnSpc>
                <a:spcPts val="9465"/>
              </a:lnSpc>
              <a:buFont typeface="Arial"/>
              <a:buChar char="•"/>
            </a:pPr>
            <a:r>
              <a:rPr lang="en-US" sz="525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52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marL="951678" lvl="1" indent="-475839" algn="just">
              <a:lnSpc>
                <a:spcPts val="9465"/>
              </a:lnSpc>
              <a:buFont typeface="Arial"/>
              <a:buChar char="•"/>
            </a:pPr>
            <a:r>
              <a:rPr lang="en-US" sz="525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</a:p>
          <a:p>
            <a:pPr marL="951678" lvl="1" indent="-475839" algn="just">
              <a:lnSpc>
                <a:spcPts val="9465"/>
              </a:lnSpc>
              <a:buFont typeface="Arial"/>
              <a:buChar char="•"/>
            </a:pPr>
            <a:r>
              <a:rPr lang="en-US" sz="525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525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Society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29186" y="3706065"/>
            <a:ext cx="14258978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6"/>
              </a:lnSpc>
              <a:spcBef>
                <a:spcPct val="0"/>
              </a:spcBef>
            </a:pPr>
            <a:r>
              <a:rPr lang="en-US" sz="468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Difficulties in tracking employment outcomes, </a:t>
            </a:r>
          </a:p>
          <a:p>
            <a:pPr algn="ctr">
              <a:lnSpc>
                <a:spcPts val="5626"/>
              </a:lnSpc>
              <a:spcBef>
                <a:spcPct val="0"/>
              </a:spcBef>
            </a:pPr>
            <a:r>
              <a:rPr lang="en-US" sz="468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 gaps, and the impact of skilling initiatives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BEC922-8C68-5079-1BFC-4BD03A56F06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/>
          <a:srcRect r="59916"/>
          <a:stretch/>
        </p:blipFill>
        <p:spPr>
          <a:xfrm>
            <a:off x="13030200" y="4610100"/>
            <a:ext cx="4777342" cy="51094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F4252-E2DE-E432-5D54-1A39B839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975D0473-2185-56CC-64E4-97F9FD697C74}"/>
              </a:ext>
            </a:extLst>
          </p:cNvPr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7FF89E14-5893-E383-295D-01346ECA7ED5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5BEC9-80B6-5BE3-8C59-BB2973D31F88}"/>
              </a:ext>
            </a:extLst>
          </p:cNvPr>
          <p:cNvGrpSpPr/>
          <p:nvPr/>
        </p:nvGrpSpPr>
        <p:grpSpPr>
          <a:xfrm>
            <a:off x="838200" y="-2974"/>
            <a:ext cx="14709421" cy="1831450"/>
            <a:chOff x="0" y="-155934"/>
            <a:chExt cx="23023441" cy="2441934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9D30861-A020-7CA4-0DE9-DB5FE07285F9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F43E52B0-D7D3-94D3-E37E-64364DC780D4}"/>
                </a:ext>
              </a:extLst>
            </p:cNvPr>
            <p:cNvSpPr txBox="1"/>
            <p:nvPr/>
          </p:nvSpPr>
          <p:spPr>
            <a:xfrm>
              <a:off x="2500242" y="-155934"/>
              <a:ext cx="20523199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4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CONTINUUM</a:t>
              </a:r>
            </a:p>
            <a:p>
              <a:pPr algn="ctr">
                <a:lnSpc>
                  <a:spcPct val="100000"/>
                </a:lnSpc>
              </a:pPr>
              <a:r>
                <a:rPr lang="en-IN" sz="4000" dirty="0"/>
                <a:t>Longitudinal Livelihood Outcomes Intelligence Platform</a:t>
              </a:r>
              <a:endPara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32C680DB-B8F8-F0AC-2DE3-E1EA2E361BF9}"/>
              </a:ext>
            </a:extLst>
          </p:cNvPr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9D66C95-7436-8BAB-D0CF-CC8AF5EDD547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 cstate="print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0EC46F3D-B61C-E3CA-DCE9-3851438E2E21}"/>
                </a:ext>
              </a:extLst>
            </p:cNvPr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35" name="Group 14">
            <a:extLst>
              <a:ext uri="{FF2B5EF4-FFF2-40B4-BE49-F238E27FC236}">
                <a16:creationId xmlns:a16="http://schemas.microsoft.com/office/drawing/2014/main" id="{77BA4653-BE5D-CFB7-32BE-2986EB2E70F9}"/>
              </a:ext>
            </a:extLst>
          </p:cNvPr>
          <p:cNvGrpSpPr/>
          <p:nvPr/>
        </p:nvGrpSpPr>
        <p:grpSpPr>
          <a:xfrm>
            <a:off x="274501" y="325245"/>
            <a:ext cx="1915887" cy="1291962"/>
            <a:chOff x="103886" y="-68487"/>
            <a:chExt cx="2554516" cy="1722616"/>
          </a:xfrm>
        </p:grpSpPr>
        <p:sp>
          <p:nvSpPr>
            <p:cNvPr id="37" name="Freeform 15" descr="Your startup LOGO">
              <a:extLst>
                <a:ext uri="{FF2B5EF4-FFF2-40B4-BE49-F238E27FC236}">
                  <a16:creationId xmlns:a16="http://schemas.microsoft.com/office/drawing/2014/main" id="{AE1D6564-C8DC-26E6-B930-3DF1542282B8}"/>
                </a:ext>
              </a:extLst>
            </p:cNvPr>
            <p:cNvSpPr/>
            <p:nvPr/>
          </p:nvSpPr>
          <p:spPr>
            <a:xfrm>
              <a:off x="103924" y="-39918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BF7248D0-1000-37BA-EB1B-258CC9B06D73}"/>
                </a:ext>
              </a:extLst>
            </p:cNvPr>
            <p:cNvSpPr txBox="1"/>
            <p:nvPr/>
          </p:nvSpPr>
          <p:spPr>
            <a:xfrm>
              <a:off x="103886" y="-68487"/>
              <a:ext cx="2554516" cy="1722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Society</a:t>
              </a:r>
            </a:p>
          </p:txBody>
        </p:sp>
      </p:grpSp>
      <p:grpSp>
        <p:nvGrpSpPr>
          <p:cNvPr id="40" name="Group 17">
            <a:extLst>
              <a:ext uri="{FF2B5EF4-FFF2-40B4-BE49-F238E27FC236}">
                <a16:creationId xmlns:a16="http://schemas.microsoft.com/office/drawing/2014/main" id="{FB753968-4304-7000-2FE2-5C5814E5BB9D}"/>
              </a:ext>
            </a:extLst>
          </p:cNvPr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2E27C5F6-92CE-486B-8278-1C2BC0132E0E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b="1"/>
              </a:stretch>
            </a:blipFill>
          </p:spPr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B86B358-4524-CCE5-25F6-4EAA3F7A3C99}"/>
              </a:ext>
            </a:extLst>
          </p:cNvPr>
          <p:cNvSpPr/>
          <p:nvPr/>
        </p:nvSpPr>
        <p:spPr>
          <a:xfrm>
            <a:off x="400592" y="1714500"/>
            <a:ext cx="8591007" cy="3810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3000" b="1" u="sng" dirty="0">
                <a:solidFill>
                  <a:schemeClr val="tx2">
                    <a:lumMod val="75000"/>
                  </a:schemeClr>
                </a:solidFill>
                <a:latin typeface="Calibri (MS) Bold" panose="020B0604020202020204" charset="0"/>
                <a:cs typeface="Calibri (MS) Bold" panose="020B0604020202020204" charset="0"/>
              </a:rPr>
              <a:t>Problem: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skilling portals lose visibility after certification because fragmented student identities, frequent contact changes, and disconnected databases make long-term tracking impossible. Additionally, low employer response rates leave diverse outcomes—like self-employment, apprenticeships, and gig work—completely unmonitored. Without verifiable data on multi-year retention and wage progression, policymakers cannot identify real-world skill gaps or hold underperforming training providers accountable.</a:t>
            </a:r>
            <a:endParaRPr lang="en-IN" sz="2400" b="1" u="sng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CB07F2-0248-8FA2-65EB-F841FC6AA4BB}"/>
              </a:ext>
            </a:extLst>
          </p:cNvPr>
          <p:cNvSpPr/>
          <p:nvPr/>
        </p:nvSpPr>
        <p:spPr>
          <a:xfrm>
            <a:off x="9144000" y="1739752"/>
            <a:ext cx="8730897" cy="243505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000" b="1" u="sng" dirty="0">
                <a:solidFill>
                  <a:schemeClr val="tx2">
                    <a:lumMod val="75000"/>
                  </a:schemeClr>
                </a:solidFill>
                <a:latin typeface="Calibri (MS) Bold" panose="020B0604020202020204" charset="0"/>
                <a:cs typeface="Calibri (MS) Bold" panose="020B0604020202020204" charset="0"/>
              </a:rPr>
              <a:t>Our Idea:</a:t>
            </a:r>
          </a:p>
          <a:p>
            <a:pPr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Continuum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skilling-outcomes platform that connects training with real-world livelihood outcomes. It creates a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consent-based, low-burden and privacy-conscious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outcome record to track, verify and understand what happens after certification.</a:t>
            </a:r>
            <a:endParaRPr lang="en-IN" sz="2500" b="1" u="sng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C75590-A81F-4B7C-5CA7-C6A78564B2BE}"/>
              </a:ext>
            </a:extLst>
          </p:cNvPr>
          <p:cNvSpPr/>
          <p:nvPr/>
        </p:nvSpPr>
        <p:spPr>
          <a:xfrm>
            <a:off x="413103" y="5636964"/>
            <a:ext cx="8730897" cy="384993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000" b="1" u="sng" dirty="0">
                <a:solidFill>
                  <a:schemeClr val="tx2">
                    <a:lumMod val="75000"/>
                  </a:schemeClr>
                </a:solidFill>
                <a:latin typeface="Calibri (MS) Bold" panose="020B0604020202020204" charset="0"/>
                <a:cs typeface="Calibri (MS) Bold" panose="020B0604020202020204" charset="0"/>
              </a:rPr>
              <a:t>Proposed Solution: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Multi-Anchor Ledger: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Unifies disconnected profiles via permanent digital anchors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Aadhaar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DigiLocker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maintaining contact even through phone updates and trainee migration.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Verification: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reliance on manual employer reporting by pulling status signals directly from public registries like EPFO, NAPS,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Udyam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Analytics: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multi-year wage progression and records specific attrition causes to pinpoint real-world skill gaps and enforce provider accountability.</a:t>
            </a:r>
            <a:endParaRPr lang="en-IN" sz="2400" b="1" u="sng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C893B57-EC53-EFBE-3566-D32227ACAACB}"/>
              </a:ext>
            </a:extLst>
          </p:cNvPr>
          <p:cNvSpPr/>
          <p:nvPr/>
        </p:nvSpPr>
        <p:spPr>
          <a:xfrm>
            <a:off x="9296400" y="5829300"/>
            <a:ext cx="8730897" cy="347686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3000" b="1" u="sng" dirty="0">
                <a:solidFill>
                  <a:schemeClr val="tx2">
                    <a:lumMod val="75000"/>
                  </a:schemeClr>
                </a:solidFill>
                <a:latin typeface="Calibri (MS) Bold" panose="020B0604020202020204" charset="0"/>
                <a:cs typeface="Calibri (MS) Bold" panose="020B0604020202020204" charset="0"/>
              </a:rPr>
              <a:t>Innovation/Uniqueness: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beyond certification and one-time placement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longitudinal livelihood outcomes.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identity and outcome continuity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changing trainee details, employers, locations and job roles.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fragmented outcome signals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actionable intelligence for programme improvement, provider accountability, resource allocation and policy.</a:t>
            </a:r>
          </a:p>
        </p:txBody>
      </p:sp>
      <p:pic>
        <p:nvPicPr>
          <p:cNvPr id="27" name="Picture 26" descr="Analysis ">
            <a:extLst>
              <a:ext uri="{FF2B5EF4-FFF2-40B4-BE49-F238E27FC236}">
                <a16:creationId xmlns:a16="http://schemas.microsoft.com/office/drawing/2014/main" id="{FD08AD87-3E6F-1B40-BB97-F0B04EF97F4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109377" y="4558352"/>
            <a:ext cx="1042348" cy="1042348"/>
          </a:xfrm>
          <a:prstGeom prst="rect">
            <a:avLst/>
          </a:prstGeom>
        </p:spPr>
      </p:pic>
      <p:pic>
        <p:nvPicPr>
          <p:cNvPr id="29" name="Picture 28" descr="Certificate ">
            <a:extLst>
              <a:ext uri="{FF2B5EF4-FFF2-40B4-BE49-F238E27FC236}">
                <a16:creationId xmlns:a16="http://schemas.microsoft.com/office/drawing/2014/main" id="{388902CA-2606-1813-C74D-C4B57232E6BE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719381" y="4492809"/>
            <a:ext cx="1042348" cy="1042348"/>
          </a:xfrm>
          <a:prstGeom prst="rect">
            <a:avLst/>
          </a:prstGeom>
        </p:spPr>
      </p:pic>
      <p:pic>
        <p:nvPicPr>
          <p:cNvPr id="30" name="Picture 29" descr="Think question ">
            <a:extLst>
              <a:ext uri="{FF2B5EF4-FFF2-40B4-BE49-F238E27FC236}">
                <a16:creationId xmlns:a16="http://schemas.microsoft.com/office/drawing/2014/main" id="{BA1F8858-B3AA-C696-028F-74C2F184E6BC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368263" y="4394854"/>
            <a:ext cx="1209633" cy="1107890"/>
          </a:xfrm>
          <a:prstGeom prst="rect">
            <a:avLst/>
          </a:prstGeom>
        </p:spPr>
      </p:pic>
      <p:pic>
        <p:nvPicPr>
          <p:cNvPr id="32" name="Picture 31" descr="Financial statement ">
            <a:extLst>
              <a:ext uri="{FF2B5EF4-FFF2-40B4-BE49-F238E27FC236}">
                <a16:creationId xmlns:a16="http://schemas.microsoft.com/office/drawing/2014/main" id="{04E5C5D0-8E13-7C0B-BC3D-F29A91C78B67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5184430" y="4470933"/>
            <a:ext cx="1427170" cy="105605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F321CB-501D-E3B0-690A-15794B92671C}"/>
              </a:ext>
            </a:extLst>
          </p:cNvPr>
          <p:cNvCxnSpPr/>
          <p:nvPr/>
        </p:nvCxnSpPr>
        <p:spPr>
          <a:xfrm>
            <a:off x="11253512" y="4989917"/>
            <a:ext cx="3845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AE69BE-E9A9-608E-881D-3AE610576CAE}"/>
              </a:ext>
            </a:extLst>
          </p:cNvPr>
          <p:cNvCxnSpPr/>
          <p:nvPr/>
        </p:nvCxnSpPr>
        <p:spPr>
          <a:xfrm>
            <a:off x="12833849" y="4989917"/>
            <a:ext cx="3845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47916CA-72A6-D2A3-CA9F-65A84E063F48}"/>
              </a:ext>
            </a:extLst>
          </p:cNvPr>
          <p:cNvCxnSpPr/>
          <p:nvPr/>
        </p:nvCxnSpPr>
        <p:spPr>
          <a:xfrm>
            <a:off x="14608603" y="4989917"/>
            <a:ext cx="3845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954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E731CE-6D4A-2470-26CD-C226449F7012}"/>
              </a:ext>
            </a:extLst>
          </p:cNvPr>
          <p:cNvSpPr/>
          <p:nvPr/>
        </p:nvSpPr>
        <p:spPr>
          <a:xfrm>
            <a:off x="175901" y="64395"/>
            <a:ext cx="3284348" cy="36506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B81E6-0A32-1B07-2873-36BABA619857}"/>
              </a:ext>
            </a:extLst>
          </p:cNvPr>
          <p:cNvSpPr txBox="1"/>
          <p:nvPr/>
        </p:nvSpPr>
        <p:spPr>
          <a:xfrm>
            <a:off x="538844" y="62465"/>
            <a:ext cx="26942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b="1" dirty="0"/>
              <a:t>User Ecosystem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B5D1F3-FEB7-4888-3588-08337A23F5B5}"/>
              </a:ext>
            </a:extLst>
          </p:cNvPr>
          <p:cNvSpPr/>
          <p:nvPr/>
        </p:nvSpPr>
        <p:spPr>
          <a:xfrm>
            <a:off x="371845" y="614015"/>
            <a:ext cx="2957402" cy="6142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dirty="0"/>
              <a:t>        Student/Trainee</a:t>
            </a:r>
          </a:p>
          <a:p>
            <a:pPr algn="ctr"/>
            <a:r>
              <a:rPr lang="en-IN" sz="1500" dirty="0"/>
              <a:t>          ( View Progress/access resources)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D7A30B-7713-01CB-5C72-BB637374B228}"/>
              </a:ext>
            </a:extLst>
          </p:cNvPr>
          <p:cNvSpPr/>
          <p:nvPr/>
        </p:nvSpPr>
        <p:spPr>
          <a:xfrm>
            <a:off x="371846" y="1357619"/>
            <a:ext cx="2957400" cy="6142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75" dirty="0"/>
              <a:t>Trainer/Mentor</a:t>
            </a:r>
          </a:p>
          <a:p>
            <a:pPr algn="ctr"/>
            <a:r>
              <a:rPr lang="en-IN" sz="1575" dirty="0"/>
              <a:t>   (add training, assess)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342C86-2613-27AD-6556-0061792BB5EE}"/>
              </a:ext>
            </a:extLst>
          </p:cNvPr>
          <p:cNvSpPr/>
          <p:nvPr/>
        </p:nvSpPr>
        <p:spPr>
          <a:xfrm>
            <a:off x="348100" y="2132304"/>
            <a:ext cx="2957399" cy="6142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dirty="0"/>
              <a:t>Placement Officer</a:t>
            </a:r>
          </a:p>
          <a:p>
            <a:pPr algn="ctr"/>
            <a:r>
              <a:rPr lang="en-IN" sz="1500" dirty="0"/>
              <a:t>           ( track placement, reports)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09DCB3-3576-355D-FD7D-CF02F5DB0D46}"/>
              </a:ext>
            </a:extLst>
          </p:cNvPr>
          <p:cNvSpPr/>
          <p:nvPr/>
        </p:nvSpPr>
        <p:spPr>
          <a:xfrm>
            <a:off x="371843" y="2904260"/>
            <a:ext cx="2957399" cy="5758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dirty="0"/>
              <a:t>Admin</a:t>
            </a:r>
          </a:p>
          <a:p>
            <a:pPr algn="ctr"/>
            <a:r>
              <a:rPr lang="en-IN" sz="1500" dirty="0"/>
              <a:t>        Manages data , users, system</a:t>
            </a:r>
          </a:p>
        </p:txBody>
      </p:sp>
      <p:sp>
        <p:nvSpPr>
          <p:cNvPr id="12" name="Google Shape;8885;p63">
            <a:extLst>
              <a:ext uri="{FF2B5EF4-FFF2-40B4-BE49-F238E27FC236}">
                <a16:creationId xmlns:a16="http://schemas.microsoft.com/office/drawing/2014/main" id="{8E863829-6EDF-BFDD-6DC2-B26A3A4D9646}"/>
              </a:ext>
            </a:extLst>
          </p:cNvPr>
          <p:cNvSpPr/>
          <p:nvPr/>
        </p:nvSpPr>
        <p:spPr>
          <a:xfrm>
            <a:off x="473183" y="663630"/>
            <a:ext cx="534761" cy="489855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rgbClr val="657E93"/>
          </a:solidFill>
          <a:ln>
            <a:solidFill>
              <a:schemeClr val="tx1"/>
            </a:solidFill>
          </a:ln>
        </p:spPr>
        <p:txBody>
          <a:bodyPr spcFirstLastPara="1" wrap="square" lIns="205707" tIns="205707" rIns="205707" bIns="205707" anchor="ctr" anchorCtr="0">
            <a:noAutofit/>
          </a:bodyPr>
          <a:lstStyle/>
          <a:p>
            <a:endParaRPr sz="40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8879F3-FC70-A0C9-ED77-A9FCBAD3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77"/>
          <a:stretch>
            <a:fillRect/>
          </a:stretch>
        </p:blipFill>
        <p:spPr>
          <a:xfrm>
            <a:off x="473183" y="1409589"/>
            <a:ext cx="457200" cy="460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4A40D2-0DDB-4C2A-329E-FA3C949B4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56" y="2211603"/>
            <a:ext cx="508227" cy="4998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332DC3-2F2A-F072-73D9-2C5D59CBA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22156" y="3011640"/>
            <a:ext cx="404883" cy="36106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0171723-A996-21C9-ECA5-10E62E87EB61}"/>
              </a:ext>
            </a:extLst>
          </p:cNvPr>
          <p:cNvSpPr/>
          <p:nvPr/>
        </p:nvSpPr>
        <p:spPr>
          <a:xfrm>
            <a:off x="3815543" y="62465"/>
            <a:ext cx="3266901" cy="3652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28625" indent="-428625">
              <a:buFont typeface="Arial" panose="020B0604020202020204" pitchFamily="34" charset="0"/>
              <a:buChar char="•"/>
            </a:pPr>
            <a:endParaRPr lang="en-IN" sz="2100" dirty="0"/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IN" sz="2100" dirty="0"/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IN" sz="2100" dirty="0"/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IN" sz="21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100" dirty="0"/>
              <a:t>User Logs for self </a:t>
            </a:r>
            <a:r>
              <a:rPr lang="en-IN" sz="2100" dirty="0" err="1"/>
              <a:t>updations</a:t>
            </a:r>
            <a:endParaRPr lang="en-IN" sz="21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100" dirty="0"/>
              <a:t>Role Based access control(Admin/Trainer/student)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100" dirty="0"/>
              <a:t>Profile Management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100" dirty="0"/>
              <a:t>Multi-factor authentication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IN" sz="2700" dirty="0"/>
          </a:p>
          <a:p>
            <a:pPr algn="ctr"/>
            <a:endParaRPr lang="en-IN" sz="27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98EF96-CA8D-7FFE-97BE-976AE27C3F4D}"/>
              </a:ext>
            </a:extLst>
          </p:cNvPr>
          <p:cNvSpPr txBox="1"/>
          <p:nvPr/>
        </p:nvSpPr>
        <p:spPr>
          <a:xfrm>
            <a:off x="3844489" y="62465"/>
            <a:ext cx="32379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Identity and Access Management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1E234E-FEFF-7035-F5BE-471DE4997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487" y="170267"/>
            <a:ext cx="773736" cy="56922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2CF5D88-3715-7341-E6E7-90BA80D14E12}"/>
              </a:ext>
            </a:extLst>
          </p:cNvPr>
          <p:cNvSpPr/>
          <p:nvPr/>
        </p:nvSpPr>
        <p:spPr>
          <a:xfrm>
            <a:off x="7437737" y="107385"/>
            <a:ext cx="3237956" cy="3652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/>
          </a:p>
          <a:p>
            <a:pPr algn="ctr"/>
            <a:endParaRPr lang="en-IN" sz="2400" dirty="0"/>
          </a:p>
          <a:p>
            <a:pPr algn="ctr"/>
            <a:endParaRPr lang="en-IN" sz="2400" dirty="0"/>
          </a:p>
          <a:p>
            <a:pPr algn="ctr"/>
            <a:endParaRPr lang="en-IN" sz="2400" dirty="0"/>
          </a:p>
          <a:p>
            <a:pPr algn="ctr"/>
            <a:endParaRPr lang="en-IN" sz="2400" dirty="0"/>
          </a:p>
          <a:p>
            <a:pPr algn="ctr"/>
            <a:endParaRPr lang="en-IN" sz="2400" dirty="0"/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Core Modules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250" dirty="0"/>
              <a:t>Training and Learning Management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250" dirty="0"/>
              <a:t>Progress and Performance Tracking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250" dirty="0"/>
              <a:t>Placement and Internship Management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250" dirty="0"/>
              <a:t>Alerts and Notifications</a:t>
            </a:r>
          </a:p>
          <a:p>
            <a:pPr algn="ctr"/>
            <a:endParaRPr lang="en-IN" sz="2100" dirty="0"/>
          </a:p>
          <a:p>
            <a:pPr algn="ctr"/>
            <a:endParaRPr lang="en-IN" sz="2100" dirty="0"/>
          </a:p>
          <a:p>
            <a:pPr algn="ctr"/>
            <a:endParaRPr lang="en-IN" sz="2100" dirty="0"/>
          </a:p>
          <a:p>
            <a:pPr algn="ctr"/>
            <a:endParaRPr lang="en-IN" sz="2100" dirty="0"/>
          </a:p>
          <a:p>
            <a:pPr algn="ctr"/>
            <a:endParaRPr lang="en-IN" sz="2100" dirty="0"/>
          </a:p>
          <a:p>
            <a:pPr algn="ctr"/>
            <a:endParaRPr lang="en-IN" sz="2100" dirty="0"/>
          </a:p>
          <a:p>
            <a:pPr algn="ctr"/>
            <a:endParaRPr lang="en-IN" sz="2400" dirty="0"/>
          </a:p>
          <a:p>
            <a:pPr algn="ctr"/>
            <a:endParaRPr lang="en-IN" sz="2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8222E6-071F-3C39-57FB-CA6B1B855284}"/>
              </a:ext>
            </a:extLst>
          </p:cNvPr>
          <p:cNvSpPr/>
          <p:nvPr/>
        </p:nvSpPr>
        <p:spPr>
          <a:xfrm>
            <a:off x="11030986" y="65928"/>
            <a:ext cx="3112298" cy="36525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98E5CF-5F75-242C-66B8-BB9E382171F6}"/>
              </a:ext>
            </a:extLst>
          </p:cNvPr>
          <p:cNvSpPr/>
          <p:nvPr/>
        </p:nvSpPr>
        <p:spPr>
          <a:xfrm>
            <a:off x="11277201" y="717378"/>
            <a:ext cx="2619864" cy="73054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575" dirty="0">
                <a:solidFill>
                  <a:schemeClr val="tx1"/>
                </a:solidFill>
              </a:rPr>
              <a:t>          Government authorized </a:t>
            </a:r>
          </a:p>
          <a:p>
            <a:pPr algn="r"/>
            <a:r>
              <a:rPr lang="en-IN" sz="1575" dirty="0">
                <a:solidFill>
                  <a:schemeClr val="tx1"/>
                </a:solidFill>
              </a:rPr>
              <a:t>sources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EB3FB8-EF0D-FD7A-9EDC-9D800E6E8704}"/>
              </a:ext>
            </a:extLst>
          </p:cNvPr>
          <p:cNvSpPr/>
          <p:nvPr/>
        </p:nvSpPr>
        <p:spPr>
          <a:xfrm>
            <a:off x="11277201" y="1635335"/>
            <a:ext cx="2619864" cy="7771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575" dirty="0">
                <a:solidFill>
                  <a:schemeClr val="tx1"/>
                </a:solidFill>
              </a:rPr>
              <a:t>Employer/</a:t>
            </a:r>
          </a:p>
          <a:p>
            <a:pPr algn="r"/>
            <a:r>
              <a:rPr lang="en-IN" sz="1575" dirty="0">
                <a:solidFill>
                  <a:schemeClr val="tx1"/>
                </a:solidFill>
              </a:rPr>
              <a:t>Enterprises</a:t>
            </a:r>
          </a:p>
          <a:p>
            <a:pPr algn="r"/>
            <a:r>
              <a:rPr lang="en-IN" sz="1575" dirty="0">
                <a:solidFill>
                  <a:schemeClr val="tx1"/>
                </a:solidFill>
              </a:rPr>
              <a:t>sources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99E8AE-238E-F6AD-31CA-09E48EE68EE3}"/>
              </a:ext>
            </a:extLst>
          </p:cNvPr>
          <p:cNvSpPr/>
          <p:nvPr/>
        </p:nvSpPr>
        <p:spPr>
          <a:xfrm>
            <a:off x="11277201" y="2509430"/>
            <a:ext cx="2619864" cy="7952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575" dirty="0">
                <a:solidFill>
                  <a:schemeClr val="tx1"/>
                </a:solidFill>
              </a:rPr>
              <a:t>Trainee </a:t>
            </a:r>
          </a:p>
          <a:p>
            <a:pPr algn="r"/>
            <a:r>
              <a:rPr lang="en-IN" sz="1575" dirty="0">
                <a:solidFill>
                  <a:schemeClr val="tx1"/>
                </a:solidFill>
              </a:rPr>
              <a:t>evidence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EF3EDB-B279-0A18-9F31-1F6F3B18FCA0}"/>
              </a:ext>
            </a:extLst>
          </p:cNvPr>
          <p:cNvSpPr txBox="1"/>
          <p:nvPr/>
        </p:nvSpPr>
        <p:spPr>
          <a:xfrm>
            <a:off x="11107877" y="90716"/>
            <a:ext cx="29585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700" b="1" dirty="0"/>
              <a:t>Data Sources</a:t>
            </a:r>
          </a:p>
        </p:txBody>
      </p:sp>
      <p:grpSp>
        <p:nvGrpSpPr>
          <p:cNvPr id="29" name="Google Shape;9051;p63">
            <a:extLst>
              <a:ext uri="{FF2B5EF4-FFF2-40B4-BE49-F238E27FC236}">
                <a16:creationId xmlns:a16="http://schemas.microsoft.com/office/drawing/2014/main" id="{D525F944-1986-AC50-3499-BBD60DE468D8}"/>
              </a:ext>
            </a:extLst>
          </p:cNvPr>
          <p:cNvGrpSpPr/>
          <p:nvPr/>
        </p:nvGrpSpPr>
        <p:grpSpPr>
          <a:xfrm>
            <a:off x="11605275" y="841356"/>
            <a:ext cx="734970" cy="582705"/>
            <a:chOff x="2623237" y="2431047"/>
            <a:chExt cx="355024" cy="332630"/>
          </a:xfrm>
        </p:grpSpPr>
        <p:sp>
          <p:nvSpPr>
            <p:cNvPr id="30" name="Google Shape;9052;p63">
              <a:extLst>
                <a:ext uri="{FF2B5EF4-FFF2-40B4-BE49-F238E27FC236}">
                  <a16:creationId xmlns:a16="http://schemas.microsoft.com/office/drawing/2014/main" id="{447794BD-9AD6-CC47-4658-5A9B22763498}"/>
                </a:ext>
              </a:extLst>
            </p:cNvPr>
            <p:cNvSpPr/>
            <p:nvPr/>
          </p:nvSpPr>
          <p:spPr>
            <a:xfrm>
              <a:off x="2655856" y="2604370"/>
              <a:ext cx="48579" cy="64506"/>
            </a:xfrm>
            <a:custGeom>
              <a:avLst/>
              <a:gdLst/>
              <a:ahLst/>
              <a:cxnLst/>
              <a:rect l="l" t="t" r="r" b="b"/>
              <a:pathLst>
                <a:path w="1525" h="2025" extrusionOk="0">
                  <a:moveTo>
                    <a:pt x="762" y="346"/>
                  </a:moveTo>
                  <a:cubicBezTo>
                    <a:pt x="1000" y="346"/>
                    <a:pt x="1191" y="536"/>
                    <a:pt x="1191" y="774"/>
                  </a:cubicBezTo>
                  <a:lnTo>
                    <a:pt x="1191" y="1715"/>
                  </a:lnTo>
                  <a:lnTo>
                    <a:pt x="345" y="1715"/>
                  </a:lnTo>
                  <a:lnTo>
                    <a:pt x="345" y="774"/>
                  </a:lnTo>
                  <a:lnTo>
                    <a:pt x="334" y="774"/>
                  </a:lnTo>
                  <a:cubicBezTo>
                    <a:pt x="334" y="536"/>
                    <a:pt x="524" y="346"/>
                    <a:pt x="762" y="346"/>
                  </a:cubicBezTo>
                  <a:close/>
                  <a:moveTo>
                    <a:pt x="762" y="0"/>
                  </a:moveTo>
                  <a:cubicBezTo>
                    <a:pt x="345" y="0"/>
                    <a:pt x="0" y="346"/>
                    <a:pt x="0" y="762"/>
                  </a:cubicBezTo>
                  <a:lnTo>
                    <a:pt x="0" y="1858"/>
                  </a:lnTo>
                  <a:cubicBezTo>
                    <a:pt x="0" y="1953"/>
                    <a:pt x="72" y="2024"/>
                    <a:pt x="167" y="2024"/>
                  </a:cubicBezTo>
                  <a:lnTo>
                    <a:pt x="1357" y="2024"/>
                  </a:lnTo>
                  <a:cubicBezTo>
                    <a:pt x="1441" y="2024"/>
                    <a:pt x="1524" y="1953"/>
                    <a:pt x="1524" y="1858"/>
                  </a:cubicBezTo>
                  <a:lnTo>
                    <a:pt x="1524" y="762"/>
                  </a:lnTo>
                  <a:cubicBezTo>
                    <a:pt x="1524" y="346"/>
                    <a:pt x="1179" y="0"/>
                    <a:pt x="7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31" name="Google Shape;9053;p63">
              <a:extLst>
                <a:ext uri="{FF2B5EF4-FFF2-40B4-BE49-F238E27FC236}">
                  <a16:creationId xmlns:a16="http://schemas.microsoft.com/office/drawing/2014/main" id="{4475B439-8E36-66C3-A191-AB15239BEAFB}"/>
                </a:ext>
              </a:extLst>
            </p:cNvPr>
            <p:cNvSpPr/>
            <p:nvPr/>
          </p:nvSpPr>
          <p:spPr>
            <a:xfrm>
              <a:off x="2623237" y="2431047"/>
              <a:ext cx="355024" cy="332630"/>
            </a:xfrm>
            <a:custGeom>
              <a:avLst/>
              <a:gdLst/>
              <a:ahLst/>
              <a:cxnLst/>
              <a:rect l="l" t="t" r="r" b="b"/>
              <a:pathLst>
                <a:path w="11145" h="10442" extrusionOk="0">
                  <a:moveTo>
                    <a:pt x="8692" y="2608"/>
                  </a:moveTo>
                  <a:cubicBezTo>
                    <a:pt x="8716" y="2608"/>
                    <a:pt x="8751" y="2643"/>
                    <a:pt x="8751" y="2667"/>
                  </a:cubicBezTo>
                  <a:lnTo>
                    <a:pt x="8751" y="3024"/>
                  </a:lnTo>
                  <a:cubicBezTo>
                    <a:pt x="8751" y="3060"/>
                    <a:pt x="8716" y="3084"/>
                    <a:pt x="8692" y="3084"/>
                  </a:cubicBezTo>
                  <a:lnTo>
                    <a:pt x="2453" y="3084"/>
                  </a:lnTo>
                  <a:cubicBezTo>
                    <a:pt x="2441" y="3084"/>
                    <a:pt x="2405" y="3060"/>
                    <a:pt x="2405" y="3024"/>
                  </a:cubicBezTo>
                  <a:lnTo>
                    <a:pt x="2405" y="2667"/>
                  </a:lnTo>
                  <a:cubicBezTo>
                    <a:pt x="2405" y="2643"/>
                    <a:pt x="2441" y="2608"/>
                    <a:pt x="2465" y="2608"/>
                  </a:cubicBezTo>
                  <a:close/>
                  <a:moveTo>
                    <a:pt x="8096" y="3405"/>
                  </a:moveTo>
                  <a:lnTo>
                    <a:pt x="8096" y="3834"/>
                  </a:lnTo>
                  <a:lnTo>
                    <a:pt x="7977" y="3953"/>
                  </a:lnTo>
                  <a:lnTo>
                    <a:pt x="7227" y="3953"/>
                  </a:lnTo>
                  <a:lnTo>
                    <a:pt x="7108" y="3834"/>
                  </a:lnTo>
                  <a:lnTo>
                    <a:pt x="7108" y="3405"/>
                  </a:lnTo>
                  <a:close/>
                  <a:moveTo>
                    <a:pt x="4048" y="3417"/>
                  </a:moveTo>
                  <a:lnTo>
                    <a:pt x="4048" y="3846"/>
                  </a:lnTo>
                  <a:lnTo>
                    <a:pt x="3929" y="3965"/>
                  </a:lnTo>
                  <a:lnTo>
                    <a:pt x="3179" y="3965"/>
                  </a:lnTo>
                  <a:lnTo>
                    <a:pt x="3060" y="3846"/>
                  </a:lnTo>
                  <a:lnTo>
                    <a:pt x="3060" y="3417"/>
                  </a:lnTo>
                  <a:close/>
                  <a:moveTo>
                    <a:pt x="2739" y="3417"/>
                  </a:moveTo>
                  <a:lnTo>
                    <a:pt x="2739" y="3905"/>
                  </a:lnTo>
                  <a:cubicBezTo>
                    <a:pt x="2739" y="3953"/>
                    <a:pt x="2751" y="4001"/>
                    <a:pt x="2774" y="4025"/>
                  </a:cubicBezTo>
                  <a:lnTo>
                    <a:pt x="2941" y="4191"/>
                  </a:lnTo>
                  <a:lnTo>
                    <a:pt x="2941" y="4667"/>
                  </a:lnTo>
                  <a:lnTo>
                    <a:pt x="357" y="4667"/>
                  </a:lnTo>
                  <a:lnTo>
                    <a:pt x="476" y="3453"/>
                  </a:lnTo>
                  <a:cubicBezTo>
                    <a:pt x="476" y="3429"/>
                    <a:pt x="500" y="3417"/>
                    <a:pt x="536" y="3417"/>
                  </a:cubicBezTo>
                  <a:close/>
                  <a:moveTo>
                    <a:pt x="10621" y="3417"/>
                  </a:moveTo>
                  <a:cubicBezTo>
                    <a:pt x="10656" y="3417"/>
                    <a:pt x="10668" y="3429"/>
                    <a:pt x="10680" y="3453"/>
                  </a:cubicBezTo>
                  <a:lnTo>
                    <a:pt x="10799" y="4667"/>
                  </a:lnTo>
                  <a:lnTo>
                    <a:pt x="8204" y="4667"/>
                  </a:lnTo>
                  <a:lnTo>
                    <a:pt x="8204" y="4191"/>
                  </a:lnTo>
                  <a:lnTo>
                    <a:pt x="8382" y="4025"/>
                  </a:lnTo>
                  <a:cubicBezTo>
                    <a:pt x="8406" y="4001"/>
                    <a:pt x="8418" y="3953"/>
                    <a:pt x="8418" y="3905"/>
                  </a:cubicBezTo>
                  <a:lnTo>
                    <a:pt x="8418" y="3417"/>
                  </a:lnTo>
                  <a:close/>
                  <a:moveTo>
                    <a:pt x="3834" y="4298"/>
                  </a:moveTo>
                  <a:lnTo>
                    <a:pt x="3834" y="7644"/>
                  </a:lnTo>
                  <a:lnTo>
                    <a:pt x="3286" y="7644"/>
                  </a:lnTo>
                  <a:lnTo>
                    <a:pt x="3286" y="4298"/>
                  </a:lnTo>
                  <a:close/>
                  <a:moveTo>
                    <a:pt x="7870" y="4298"/>
                  </a:moveTo>
                  <a:lnTo>
                    <a:pt x="7870" y="7644"/>
                  </a:lnTo>
                  <a:lnTo>
                    <a:pt x="7323" y="7644"/>
                  </a:lnTo>
                  <a:lnTo>
                    <a:pt x="7323" y="4298"/>
                  </a:lnTo>
                  <a:close/>
                  <a:moveTo>
                    <a:pt x="5563" y="6230"/>
                  </a:moveTo>
                  <a:cubicBezTo>
                    <a:pt x="5617" y="6230"/>
                    <a:pt x="5674" y="6245"/>
                    <a:pt x="5727" y="6275"/>
                  </a:cubicBezTo>
                  <a:lnTo>
                    <a:pt x="6013" y="6465"/>
                  </a:lnTo>
                  <a:cubicBezTo>
                    <a:pt x="6084" y="6513"/>
                    <a:pt x="6132" y="6596"/>
                    <a:pt x="6132" y="6692"/>
                  </a:cubicBezTo>
                  <a:lnTo>
                    <a:pt x="6132" y="8525"/>
                  </a:lnTo>
                  <a:lnTo>
                    <a:pt x="5013" y="8525"/>
                  </a:lnTo>
                  <a:lnTo>
                    <a:pt x="5013" y="6692"/>
                  </a:lnTo>
                  <a:cubicBezTo>
                    <a:pt x="5013" y="6596"/>
                    <a:pt x="5060" y="6513"/>
                    <a:pt x="5132" y="6465"/>
                  </a:cubicBezTo>
                  <a:lnTo>
                    <a:pt x="5418" y="6275"/>
                  </a:lnTo>
                  <a:cubicBezTo>
                    <a:pt x="5459" y="6245"/>
                    <a:pt x="5510" y="6230"/>
                    <a:pt x="5563" y="6230"/>
                  </a:cubicBezTo>
                  <a:close/>
                  <a:moveTo>
                    <a:pt x="3929" y="7989"/>
                  </a:moveTo>
                  <a:lnTo>
                    <a:pt x="4048" y="8108"/>
                  </a:lnTo>
                  <a:lnTo>
                    <a:pt x="4048" y="8537"/>
                  </a:lnTo>
                  <a:lnTo>
                    <a:pt x="3060" y="8537"/>
                  </a:lnTo>
                  <a:lnTo>
                    <a:pt x="3060" y="8108"/>
                  </a:lnTo>
                  <a:lnTo>
                    <a:pt x="3179" y="7989"/>
                  </a:lnTo>
                  <a:close/>
                  <a:moveTo>
                    <a:pt x="7954" y="7989"/>
                  </a:moveTo>
                  <a:lnTo>
                    <a:pt x="8073" y="8108"/>
                  </a:lnTo>
                  <a:lnTo>
                    <a:pt x="8073" y="8537"/>
                  </a:lnTo>
                  <a:lnTo>
                    <a:pt x="7096" y="8537"/>
                  </a:lnTo>
                  <a:lnTo>
                    <a:pt x="7096" y="8525"/>
                  </a:lnTo>
                  <a:lnTo>
                    <a:pt x="7096" y="8108"/>
                  </a:lnTo>
                  <a:lnTo>
                    <a:pt x="7215" y="7989"/>
                  </a:lnTo>
                  <a:close/>
                  <a:moveTo>
                    <a:pt x="6787" y="3429"/>
                  </a:moveTo>
                  <a:lnTo>
                    <a:pt x="6787" y="3917"/>
                  </a:lnTo>
                  <a:cubicBezTo>
                    <a:pt x="6787" y="3965"/>
                    <a:pt x="6799" y="4013"/>
                    <a:pt x="6834" y="4036"/>
                  </a:cubicBezTo>
                  <a:lnTo>
                    <a:pt x="7013" y="4215"/>
                  </a:lnTo>
                  <a:lnTo>
                    <a:pt x="7013" y="7763"/>
                  </a:lnTo>
                  <a:lnTo>
                    <a:pt x="6834" y="7942"/>
                  </a:lnTo>
                  <a:cubicBezTo>
                    <a:pt x="6799" y="7966"/>
                    <a:pt x="6787" y="8013"/>
                    <a:pt x="6787" y="8061"/>
                  </a:cubicBezTo>
                  <a:lnTo>
                    <a:pt x="6787" y="8549"/>
                  </a:lnTo>
                  <a:lnTo>
                    <a:pt x="6477" y="8525"/>
                  </a:lnTo>
                  <a:lnTo>
                    <a:pt x="6477" y="6692"/>
                  </a:lnTo>
                  <a:cubicBezTo>
                    <a:pt x="6477" y="6501"/>
                    <a:pt x="6370" y="6299"/>
                    <a:pt x="6203" y="6180"/>
                  </a:cubicBezTo>
                  <a:lnTo>
                    <a:pt x="5918" y="5989"/>
                  </a:lnTo>
                  <a:cubicBezTo>
                    <a:pt x="5816" y="5924"/>
                    <a:pt x="5703" y="5891"/>
                    <a:pt x="5589" y="5891"/>
                  </a:cubicBezTo>
                  <a:cubicBezTo>
                    <a:pt x="5474" y="5891"/>
                    <a:pt x="5358" y="5924"/>
                    <a:pt x="5251" y="5989"/>
                  </a:cubicBezTo>
                  <a:lnTo>
                    <a:pt x="4965" y="6180"/>
                  </a:lnTo>
                  <a:cubicBezTo>
                    <a:pt x="4810" y="6299"/>
                    <a:pt x="4703" y="6477"/>
                    <a:pt x="4703" y="6692"/>
                  </a:cubicBezTo>
                  <a:lnTo>
                    <a:pt x="4703" y="8525"/>
                  </a:lnTo>
                  <a:lnTo>
                    <a:pt x="4394" y="8525"/>
                  </a:lnTo>
                  <a:lnTo>
                    <a:pt x="4394" y="8025"/>
                  </a:lnTo>
                  <a:cubicBezTo>
                    <a:pt x="4394" y="7989"/>
                    <a:pt x="4370" y="7942"/>
                    <a:pt x="4346" y="7906"/>
                  </a:cubicBezTo>
                  <a:lnTo>
                    <a:pt x="4167" y="7751"/>
                  </a:lnTo>
                  <a:lnTo>
                    <a:pt x="4167" y="4203"/>
                  </a:lnTo>
                  <a:lnTo>
                    <a:pt x="4346" y="4036"/>
                  </a:lnTo>
                  <a:cubicBezTo>
                    <a:pt x="4370" y="4013"/>
                    <a:pt x="4394" y="3965"/>
                    <a:pt x="4394" y="3917"/>
                  </a:cubicBezTo>
                  <a:lnTo>
                    <a:pt x="4394" y="3429"/>
                  </a:lnTo>
                  <a:close/>
                  <a:moveTo>
                    <a:pt x="8525" y="8847"/>
                  </a:moveTo>
                  <a:lnTo>
                    <a:pt x="8525" y="9311"/>
                  </a:lnTo>
                  <a:lnTo>
                    <a:pt x="2631" y="9311"/>
                  </a:lnTo>
                  <a:lnTo>
                    <a:pt x="2631" y="8847"/>
                  </a:lnTo>
                  <a:close/>
                  <a:moveTo>
                    <a:pt x="1858" y="9632"/>
                  </a:moveTo>
                  <a:lnTo>
                    <a:pt x="1858" y="10097"/>
                  </a:lnTo>
                  <a:lnTo>
                    <a:pt x="607" y="10097"/>
                  </a:lnTo>
                  <a:lnTo>
                    <a:pt x="607" y="9632"/>
                  </a:lnTo>
                  <a:close/>
                  <a:moveTo>
                    <a:pt x="8978" y="9632"/>
                  </a:moveTo>
                  <a:lnTo>
                    <a:pt x="8978" y="10097"/>
                  </a:lnTo>
                  <a:lnTo>
                    <a:pt x="2203" y="10097"/>
                  </a:lnTo>
                  <a:lnTo>
                    <a:pt x="2203" y="9632"/>
                  </a:lnTo>
                  <a:close/>
                  <a:moveTo>
                    <a:pt x="10549" y="9632"/>
                  </a:moveTo>
                  <a:lnTo>
                    <a:pt x="10549" y="10097"/>
                  </a:lnTo>
                  <a:lnTo>
                    <a:pt x="9299" y="10097"/>
                  </a:lnTo>
                  <a:lnTo>
                    <a:pt x="9299" y="9632"/>
                  </a:lnTo>
                  <a:close/>
                  <a:moveTo>
                    <a:pt x="5566" y="0"/>
                  </a:moveTo>
                  <a:cubicBezTo>
                    <a:pt x="5531" y="0"/>
                    <a:pt x="5495" y="12"/>
                    <a:pt x="5465" y="36"/>
                  </a:cubicBezTo>
                  <a:lnTo>
                    <a:pt x="4417" y="857"/>
                  </a:lnTo>
                  <a:cubicBezTo>
                    <a:pt x="4346" y="917"/>
                    <a:pt x="4334" y="1024"/>
                    <a:pt x="4394" y="1096"/>
                  </a:cubicBezTo>
                  <a:cubicBezTo>
                    <a:pt x="4427" y="1136"/>
                    <a:pt x="4473" y="1158"/>
                    <a:pt x="4521" y="1158"/>
                  </a:cubicBezTo>
                  <a:cubicBezTo>
                    <a:pt x="4557" y="1158"/>
                    <a:pt x="4596" y="1145"/>
                    <a:pt x="4632" y="1119"/>
                  </a:cubicBezTo>
                  <a:lnTo>
                    <a:pt x="5560" y="393"/>
                  </a:lnTo>
                  <a:lnTo>
                    <a:pt x="8025" y="2298"/>
                  </a:lnTo>
                  <a:lnTo>
                    <a:pt x="3143" y="2298"/>
                  </a:lnTo>
                  <a:lnTo>
                    <a:pt x="4036" y="1596"/>
                  </a:lnTo>
                  <a:cubicBezTo>
                    <a:pt x="4108" y="1536"/>
                    <a:pt x="4120" y="1441"/>
                    <a:pt x="4060" y="1358"/>
                  </a:cubicBezTo>
                  <a:cubicBezTo>
                    <a:pt x="4026" y="1317"/>
                    <a:pt x="3977" y="1296"/>
                    <a:pt x="3928" y="1296"/>
                  </a:cubicBezTo>
                  <a:cubicBezTo>
                    <a:pt x="3891" y="1296"/>
                    <a:pt x="3853" y="1308"/>
                    <a:pt x="3822" y="1334"/>
                  </a:cubicBezTo>
                  <a:lnTo>
                    <a:pt x="2584" y="2298"/>
                  </a:lnTo>
                  <a:lnTo>
                    <a:pt x="2453" y="2298"/>
                  </a:lnTo>
                  <a:cubicBezTo>
                    <a:pt x="2250" y="2298"/>
                    <a:pt x="2072" y="2477"/>
                    <a:pt x="2072" y="2691"/>
                  </a:cubicBezTo>
                  <a:lnTo>
                    <a:pt x="2072" y="3048"/>
                  </a:lnTo>
                  <a:lnTo>
                    <a:pt x="2072" y="3108"/>
                  </a:lnTo>
                  <a:lnTo>
                    <a:pt x="524" y="3108"/>
                  </a:lnTo>
                  <a:cubicBezTo>
                    <a:pt x="322" y="3108"/>
                    <a:pt x="167" y="3251"/>
                    <a:pt x="131" y="3441"/>
                  </a:cubicBezTo>
                  <a:lnTo>
                    <a:pt x="0" y="4834"/>
                  </a:lnTo>
                  <a:cubicBezTo>
                    <a:pt x="0" y="4870"/>
                    <a:pt x="12" y="4918"/>
                    <a:pt x="48" y="4953"/>
                  </a:cubicBezTo>
                  <a:cubicBezTo>
                    <a:pt x="72" y="4977"/>
                    <a:pt x="119" y="5013"/>
                    <a:pt x="167" y="5013"/>
                  </a:cubicBezTo>
                  <a:lnTo>
                    <a:pt x="262" y="5013"/>
                  </a:lnTo>
                  <a:lnTo>
                    <a:pt x="262" y="5822"/>
                  </a:lnTo>
                  <a:cubicBezTo>
                    <a:pt x="262" y="5918"/>
                    <a:pt x="345" y="5989"/>
                    <a:pt x="429" y="5989"/>
                  </a:cubicBezTo>
                  <a:cubicBezTo>
                    <a:pt x="524" y="5989"/>
                    <a:pt x="596" y="5918"/>
                    <a:pt x="596" y="5822"/>
                  </a:cubicBezTo>
                  <a:lnTo>
                    <a:pt x="596" y="5013"/>
                  </a:lnTo>
                  <a:lnTo>
                    <a:pt x="2965" y="5013"/>
                  </a:lnTo>
                  <a:lnTo>
                    <a:pt x="2965" y="7763"/>
                  </a:lnTo>
                  <a:lnTo>
                    <a:pt x="2798" y="7930"/>
                  </a:lnTo>
                  <a:cubicBezTo>
                    <a:pt x="2762" y="7954"/>
                    <a:pt x="2751" y="8001"/>
                    <a:pt x="2751" y="8049"/>
                  </a:cubicBezTo>
                  <a:lnTo>
                    <a:pt x="2751" y="8537"/>
                  </a:lnTo>
                  <a:lnTo>
                    <a:pt x="2489" y="8537"/>
                  </a:lnTo>
                  <a:cubicBezTo>
                    <a:pt x="2393" y="8537"/>
                    <a:pt x="2322" y="8608"/>
                    <a:pt x="2322" y="8704"/>
                  </a:cubicBezTo>
                  <a:lnTo>
                    <a:pt x="2322" y="9323"/>
                  </a:lnTo>
                  <a:lnTo>
                    <a:pt x="643" y="9323"/>
                  </a:lnTo>
                  <a:lnTo>
                    <a:pt x="643" y="6584"/>
                  </a:lnTo>
                  <a:cubicBezTo>
                    <a:pt x="643" y="6501"/>
                    <a:pt x="560" y="6418"/>
                    <a:pt x="476" y="6418"/>
                  </a:cubicBezTo>
                  <a:cubicBezTo>
                    <a:pt x="381" y="6418"/>
                    <a:pt x="310" y="6501"/>
                    <a:pt x="310" y="6584"/>
                  </a:cubicBezTo>
                  <a:lnTo>
                    <a:pt x="310" y="10275"/>
                  </a:lnTo>
                  <a:cubicBezTo>
                    <a:pt x="310" y="10371"/>
                    <a:pt x="381" y="10442"/>
                    <a:pt x="476" y="10442"/>
                  </a:cubicBezTo>
                  <a:lnTo>
                    <a:pt x="10740" y="10442"/>
                  </a:lnTo>
                  <a:cubicBezTo>
                    <a:pt x="10835" y="10442"/>
                    <a:pt x="10906" y="10371"/>
                    <a:pt x="10906" y="10275"/>
                  </a:cubicBezTo>
                  <a:lnTo>
                    <a:pt x="10906" y="8347"/>
                  </a:lnTo>
                  <a:cubicBezTo>
                    <a:pt x="10906" y="8251"/>
                    <a:pt x="10835" y="8180"/>
                    <a:pt x="10740" y="8180"/>
                  </a:cubicBezTo>
                  <a:cubicBezTo>
                    <a:pt x="10656" y="8180"/>
                    <a:pt x="10585" y="8251"/>
                    <a:pt x="10585" y="8347"/>
                  </a:cubicBezTo>
                  <a:lnTo>
                    <a:pt x="10585" y="9323"/>
                  </a:lnTo>
                  <a:lnTo>
                    <a:pt x="8894" y="9323"/>
                  </a:lnTo>
                  <a:lnTo>
                    <a:pt x="8894" y="8704"/>
                  </a:lnTo>
                  <a:cubicBezTo>
                    <a:pt x="8894" y="8608"/>
                    <a:pt x="8823" y="8537"/>
                    <a:pt x="8739" y="8537"/>
                  </a:cubicBezTo>
                  <a:lnTo>
                    <a:pt x="8466" y="8537"/>
                  </a:lnTo>
                  <a:lnTo>
                    <a:pt x="8466" y="8049"/>
                  </a:lnTo>
                  <a:cubicBezTo>
                    <a:pt x="8466" y="8001"/>
                    <a:pt x="8454" y="7954"/>
                    <a:pt x="8418" y="7930"/>
                  </a:cubicBezTo>
                  <a:lnTo>
                    <a:pt x="8239" y="7763"/>
                  </a:lnTo>
                  <a:lnTo>
                    <a:pt x="8239" y="5013"/>
                  </a:lnTo>
                  <a:lnTo>
                    <a:pt x="10549" y="5013"/>
                  </a:lnTo>
                  <a:lnTo>
                    <a:pt x="10549" y="7585"/>
                  </a:lnTo>
                  <a:cubicBezTo>
                    <a:pt x="10549" y="7668"/>
                    <a:pt x="10621" y="7751"/>
                    <a:pt x="10716" y="7751"/>
                  </a:cubicBezTo>
                  <a:cubicBezTo>
                    <a:pt x="10799" y="7751"/>
                    <a:pt x="10883" y="7668"/>
                    <a:pt x="10883" y="7585"/>
                  </a:cubicBezTo>
                  <a:lnTo>
                    <a:pt x="10883" y="5013"/>
                  </a:lnTo>
                  <a:lnTo>
                    <a:pt x="10978" y="5013"/>
                  </a:lnTo>
                  <a:cubicBezTo>
                    <a:pt x="11025" y="5013"/>
                    <a:pt x="11073" y="4989"/>
                    <a:pt x="11097" y="4953"/>
                  </a:cubicBezTo>
                  <a:cubicBezTo>
                    <a:pt x="11133" y="4906"/>
                    <a:pt x="11144" y="4858"/>
                    <a:pt x="11133" y="4810"/>
                  </a:cubicBezTo>
                  <a:lnTo>
                    <a:pt x="11002" y="3429"/>
                  </a:lnTo>
                  <a:cubicBezTo>
                    <a:pt x="10978" y="3239"/>
                    <a:pt x="10811" y="3084"/>
                    <a:pt x="10609" y="3084"/>
                  </a:cubicBezTo>
                  <a:lnTo>
                    <a:pt x="9061" y="3084"/>
                  </a:lnTo>
                  <a:lnTo>
                    <a:pt x="9061" y="3024"/>
                  </a:lnTo>
                  <a:lnTo>
                    <a:pt x="9061" y="2667"/>
                  </a:lnTo>
                  <a:cubicBezTo>
                    <a:pt x="9061" y="2465"/>
                    <a:pt x="8882" y="2286"/>
                    <a:pt x="8680" y="2286"/>
                  </a:cubicBezTo>
                  <a:lnTo>
                    <a:pt x="8537" y="2286"/>
                  </a:lnTo>
                  <a:lnTo>
                    <a:pt x="5668" y="36"/>
                  </a:lnTo>
                  <a:cubicBezTo>
                    <a:pt x="5638" y="12"/>
                    <a:pt x="5602" y="0"/>
                    <a:pt x="556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 b="1" dirty="0"/>
            </a:p>
          </p:txBody>
        </p:sp>
        <p:sp>
          <p:nvSpPr>
            <p:cNvPr id="32" name="Google Shape;9054;p63">
              <a:extLst>
                <a:ext uri="{FF2B5EF4-FFF2-40B4-BE49-F238E27FC236}">
                  <a16:creationId xmlns:a16="http://schemas.microsoft.com/office/drawing/2014/main" id="{05E3628B-B4FE-F0C8-E0F6-944BF4E8B21B}"/>
                </a:ext>
              </a:extLst>
            </p:cNvPr>
            <p:cNvSpPr/>
            <p:nvPr/>
          </p:nvSpPr>
          <p:spPr>
            <a:xfrm>
              <a:off x="2897827" y="2604753"/>
              <a:ext cx="48197" cy="64506"/>
            </a:xfrm>
            <a:custGeom>
              <a:avLst/>
              <a:gdLst/>
              <a:ahLst/>
              <a:cxnLst/>
              <a:rect l="l" t="t" r="r" b="b"/>
              <a:pathLst>
                <a:path w="1513" h="2025" extrusionOk="0">
                  <a:moveTo>
                    <a:pt x="762" y="334"/>
                  </a:moveTo>
                  <a:cubicBezTo>
                    <a:pt x="989" y="334"/>
                    <a:pt x="1191" y="524"/>
                    <a:pt x="1191" y="762"/>
                  </a:cubicBezTo>
                  <a:lnTo>
                    <a:pt x="1191" y="1703"/>
                  </a:lnTo>
                  <a:lnTo>
                    <a:pt x="334" y="1703"/>
                  </a:lnTo>
                  <a:lnTo>
                    <a:pt x="334" y="762"/>
                  </a:lnTo>
                  <a:cubicBezTo>
                    <a:pt x="334" y="524"/>
                    <a:pt x="524" y="334"/>
                    <a:pt x="762" y="334"/>
                  </a:cubicBezTo>
                  <a:close/>
                  <a:moveTo>
                    <a:pt x="750" y="0"/>
                  </a:moveTo>
                  <a:cubicBezTo>
                    <a:pt x="334" y="0"/>
                    <a:pt x="0" y="346"/>
                    <a:pt x="0" y="762"/>
                  </a:cubicBezTo>
                  <a:lnTo>
                    <a:pt x="0" y="1858"/>
                  </a:lnTo>
                  <a:cubicBezTo>
                    <a:pt x="0" y="1953"/>
                    <a:pt x="72" y="2024"/>
                    <a:pt x="155" y="2024"/>
                  </a:cubicBezTo>
                  <a:lnTo>
                    <a:pt x="1346" y="2024"/>
                  </a:lnTo>
                  <a:cubicBezTo>
                    <a:pt x="1441" y="2024"/>
                    <a:pt x="1512" y="1953"/>
                    <a:pt x="1512" y="1858"/>
                  </a:cubicBezTo>
                  <a:lnTo>
                    <a:pt x="1512" y="762"/>
                  </a:lnTo>
                  <a:cubicBezTo>
                    <a:pt x="1512" y="346"/>
                    <a:pt x="1167" y="0"/>
                    <a:pt x="75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33" name="Google Shape;9055;p63">
              <a:extLst>
                <a:ext uri="{FF2B5EF4-FFF2-40B4-BE49-F238E27FC236}">
                  <a16:creationId xmlns:a16="http://schemas.microsoft.com/office/drawing/2014/main" id="{58849CD8-4F49-10BD-ECFF-13CA1AA371DE}"/>
                </a:ext>
              </a:extLst>
            </p:cNvPr>
            <p:cNvSpPr/>
            <p:nvPr/>
          </p:nvSpPr>
          <p:spPr>
            <a:xfrm>
              <a:off x="2775695" y="2551650"/>
              <a:ext cx="51223" cy="51223"/>
            </a:xfrm>
            <a:custGeom>
              <a:avLst/>
              <a:gdLst/>
              <a:ahLst/>
              <a:cxnLst/>
              <a:rect l="l" t="t" r="r" b="b"/>
              <a:pathLst>
                <a:path w="1608" h="1608" extrusionOk="0">
                  <a:moveTo>
                    <a:pt x="810" y="310"/>
                  </a:moveTo>
                  <a:cubicBezTo>
                    <a:pt x="1060" y="310"/>
                    <a:pt x="1286" y="524"/>
                    <a:pt x="1286" y="786"/>
                  </a:cubicBezTo>
                  <a:cubicBezTo>
                    <a:pt x="1263" y="1060"/>
                    <a:pt x="1060" y="1262"/>
                    <a:pt x="810" y="1262"/>
                  </a:cubicBezTo>
                  <a:cubicBezTo>
                    <a:pt x="560" y="1262"/>
                    <a:pt x="334" y="1060"/>
                    <a:pt x="334" y="786"/>
                  </a:cubicBezTo>
                  <a:cubicBezTo>
                    <a:pt x="334" y="536"/>
                    <a:pt x="536" y="310"/>
                    <a:pt x="810" y="310"/>
                  </a:cubicBezTo>
                  <a:close/>
                  <a:moveTo>
                    <a:pt x="810" y="0"/>
                  </a:moveTo>
                  <a:cubicBezTo>
                    <a:pt x="358" y="0"/>
                    <a:pt x="1" y="358"/>
                    <a:pt x="1" y="810"/>
                  </a:cubicBezTo>
                  <a:cubicBezTo>
                    <a:pt x="1" y="1251"/>
                    <a:pt x="358" y="1608"/>
                    <a:pt x="810" y="1608"/>
                  </a:cubicBezTo>
                  <a:cubicBezTo>
                    <a:pt x="1251" y="1608"/>
                    <a:pt x="1608" y="1251"/>
                    <a:pt x="1608" y="810"/>
                  </a:cubicBezTo>
                  <a:cubicBezTo>
                    <a:pt x="1596" y="358"/>
                    <a:pt x="1239" y="0"/>
                    <a:pt x="8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</p:grpSp>
      <p:sp>
        <p:nvSpPr>
          <p:cNvPr id="34" name="Google Shape;12112;p68">
            <a:extLst>
              <a:ext uri="{FF2B5EF4-FFF2-40B4-BE49-F238E27FC236}">
                <a16:creationId xmlns:a16="http://schemas.microsoft.com/office/drawing/2014/main" id="{1071AEB7-9FE4-6300-FFD9-F5891E206000}"/>
              </a:ext>
            </a:extLst>
          </p:cNvPr>
          <p:cNvSpPr/>
          <p:nvPr/>
        </p:nvSpPr>
        <p:spPr>
          <a:xfrm>
            <a:off x="11650661" y="1695683"/>
            <a:ext cx="644198" cy="586377"/>
          </a:xfrm>
          <a:custGeom>
            <a:avLst/>
            <a:gdLst/>
            <a:ahLst/>
            <a:cxnLst/>
            <a:rect l="l" t="t" r="r" b="b"/>
            <a:pathLst>
              <a:path w="12026" h="10324" extrusionOk="0">
                <a:moveTo>
                  <a:pt x="6859" y="358"/>
                </a:moveTo>
                <a:cubicBezTo>
                  <a:pt x="7037" y="358"/>
                  <a:pt x="7204" y="477"/>
                  <a:pt x="7228" y="656"/>
                </a:cubicBezTo>
                <a:lnTo>
                  <a:pt x="7454" y="1691"/>
                </a:lnTo>
                <a:lnTo>
                  <a:pt x="4513" y="1691"/>
                </a:lnTo>
                <a:lnTo>
                  <a:pt x="4763" y="656"/>
                </a:lnTo>
                <a:cubicBezTo>
                  <a:pt x="4811" y="477"/>
                  <a:pt x="4954" y="358"/>
                  <a:pt x="5132" y="358"/>
                </a:cubicBezTo>
                <a:close/>
                <a:moveTo>
                  <a:pt x="2822" y="2037"/>
                </a:moveTo>
                <a:lnTo>
                  <a:pt x="2822" y="5835"/>
                </a:lnTo>
                <a:lnTo>
                  <a:pt x="2429" y="5835"/>
                </a:lnTo>
                <a:lnTo>
                  <a:pt x="2429" y="2037"/>
                </a:lnTo>
                <a:close/>
                <a:moveTo>
                  <a:pt x="9597" y="2037"/>
                </a:moveTo>
                <a:lnTo>
                  <a:pt x="9597" y="5835"/>
                </a:lnTo>
                <a:lnTo>
                  <a:pt x="9192" y="5835"/>
                </a:lnTo>
                <a:lnTo>
                  <a:pt x="9192" y="2037"/>
                </a:lnTo>
                <a:close/>
                <a:moveTo>
                  <a:pt x="8835" y="2037"/>
                </a:moveTo>
                <a:lnTo>
                  <a:pt x="8835" y="5835"/>
                </a:lnTo>
                <a:lnTo>
                  <a:pt x="8823" y="5835"/>
                </a:lnTo>
                <a:cubicBezTo>
                  <a:pt x="8621" y="5835"/>
                  <a:pt x="8466" y="6001"/>
                  <a:pt x="8466" y="6192"/>
                </a:cubicBezTo>
                <a:lnTo>
                  <a:pt x="8466" y="6573"/>
                </a:lnTo>
                <a:lnTo>
                  <a:pt x="3561" y="6573"/>
                </a:lnTo>
                <a:lnTo>
                  <a:pt x="3561" y="6192"/>
                </a:lnTo>
                <a:cubicBezTo>
                  <a:pt x="3561" y="5978"/>
                  <a:pt x="3394" y="5835"/>
                  <a:pt x="3203" y="5835"/>
                </a:cubicBezTo>
                <a:lnTo>
                  <a:pt x="3180" y="5835"/>
                </a:lnTo>
                <a:lnTo>
                  <a:pt x="3180" y="2037"/>
                </a:lnTo>
                <a:close/>
                <a:moveTo>
                  <a:pt x="2084" y="2037"/>
                </a:moveTo>
                <a:lnTo>
                  <a:pt x="2084" y="5835"/>
                </a:lnTo>
                <a:lnTo>
                  <a:pt x="2072" y="5835"/>
                </a:lnTo>
                <a:cubicBezTo>
                  <a:pt x="1858" y="5835"/>
                  <a:pt x="1715" y="6001"/>
                  <a:pt x="1715" y="6192"/>
                </a:cubicBezTo>
                <a:lnTo>
                  <a:pt x="1715" y="6573"/>
                </a:lnTo>
                <a:lnTo>
                  <a:pt x="1691" y="6573"/>
                </a:lnTo>
                <a:cubicBezTo>
                  <a:pt x="1677" y="6573"/>
                  <a:pt x="1663" y="6574"/>
                  <a:pt x="1648" y="6574"/>
                </a:cubicBezTo>
                <a:cubicBezTo>
                  <a:pt x="930" y="6574"/>
                  <a:pt x="358" y="5987"/>
                  <a:pt x="358" y="5251"/>
                </a:cubicBezTo>
                <a:lnTo>
                  <a:pt x="358" y="2620"/>
                </a:lnTo>
                <a:cubicBezTo>
                  <a:pt x="358" y="2299"/>
                  <a:pt x="608" y="2037"/>
                  <a:pt x="941" y="2037"/>
                </a:cubicBezTo>
                <a:close/>
                <a:moveTo>
                  <a:pt x="11097" y="2049"/>
                </a:moveTo>
                <a:cubicBezTo>
                  <a:pt x="11419" y="2049"/>
                  <a:pt x="11681" y="2299"/>
                  <a:pt x="11681" y="2632"/>
                </a:cubicBezTo>
                <a:lnTo>
                  <a:pt x="11681" y="5263"/>
                </a:lnTo>
                <a:cubicBezTo>
                  <a:pt x="11669" y="6001"/>
                  <a:pt x="11073" y="6597"/>
                  <a:pt x="10347" y="6597"/>
                </a:cubicBezTo>
                <a:lnTo>
                  <a:pt x="10323" y="6204"/>
                </a:lnTo>
                <a:cubicBezTo>
                  <a:pt x="10323" y="6001"/>
                  <a:pt x="10168" y="5847"/>
                  <a:pt x="9966" y="5847"/>
                </a:cubicBezTo>
                <a:lnTo>
                  <a:pt x="9954" y="5847"/>
                </a:lnTo>
                <a:lnTo>
                  <a:pt x="9954" y="2049"/>
                </a:lnTo>
                <a:close/>
                <a:moveTo>
                  <a:pt x="3180" y="6192"/>
                </a:moveTo>
                <a:cubicBezTo>
                  <a:pt x="3180" y="6192"/>
                  <a:pt x="3203" y="6192"/>
                  <a:pt x="3203" y="6204"/>
                </a:cubicBezTo>
                <a:lnTo>
                  <a:pt x="3203" y="7144"/>
                </a:lnTo>
                <a:cubicBezTo>
                  <a:pt x="3203" y="7144"/>
                  <a:pt x="3203" y="7156"/>
                  <a:pt x="3180" y="7156"/>
                </a:cubicBezTo>
                <a:lnTo>
                  <a:pt x="2048" y="7156"/>
                </a:lnTo>
                <a:cubicBezTo>
                  <a:pt x="2048" y="7156"/>
                  <a:pt x="2037" y="7156"/>
                  <a:pt x="2037" y="7144"/>
                </a:cubicBezTo>
                <a:lnTo>
                  <a:pt x="2037" y="6204"/>
                </a:lnTo>
                <a:cubicBezTo>
                  <a:pt x="2037" y="6204"/>
                  <a:pt x="2037" y="6192"/>
                  <a:pt x="2048" y="6192"/>
                </a:cubicBezTo>
                <a:lnTo>
                  <a:pt x="2441" y="6192"/>
                </a:lnTo>
                <a:lnTo>
                  <a:pt x="2441" y="6573"/>
                </a:lnTo>
                <a:cubicBezTo>
                  <a:pt x="2441" y="6668"/>
                  <a:pt x="2525" y="6752"/>
                  <a:pt x="2620" y="6752"/>
                </a:cubicBezTo>
                <a:cubicBezTo>
                  <a:pt x="2727" y="6752"/>
                  <a:pt x="2799" y="6680"/>
                  <a:pt x="2799" y="6573"/>
                </a:cubicBezTo>
                <a:lnTo>
                  <a:pt x="2799" y="6192"/>
                </a:lnTo>
                <a:close/>
                <a:moveTo>
                  <a:pt x="9966" y="6192"/>
                </a:moveTo>
                <a:cubicBezTo>
                  <a:pt x="9966" y="6192"/>
                  <a:pt x="9978" y="6192"/>
                  <a:pt x="9978" y="6204"/>
                </a:cubicBezTo>
                <a:lnTo>
                  <a:pt x="9990" y="7144"/>
                </a:lnTo>
                <a:lnTo>
                  <a:pt x="8835" y="7156"/>
                </a:lnTo>
                <a:cubicBezTo>
                  <a:pt x="8835" y="7156"/>
                  <a:pt x="8823" y="7156"/>
                  <a:pt x="8823" y="7144"/>
                </a:cubicBezTo>
                <a:lnTo>
                  <a:pt x="8823" y="6204"/>
                </a:lnTo>
                <a:cubicBezTo>
                  <a:pt x="8823" y="6204"/>
                  <a:pt x="8823" y="6192"/>
                  <a:pt x="8835" y="6192"/>
                </a:cubicBezTo>
                <a:lnTo>
                  <a:pt x="9228" y="6192"/>
                </a:lnTo>
                <a:lnTo>
                  <a:pt x="9228" y="6573"/>
                </a:lnTo>
                <a:cubicBezTo>
                  <a:pt x="9228" y="6680"/>
                  <a:pt x="9299" y="6752"/>
                  <a:pt x="9406" y="6752"/>
                </a:cubicBezTo>
                <a:cubicBezTo>
                  <a:pt x="9514" y="6752"/>
                  <a:pt x="9585" y="6680"/>
                  <a:pt x="9585" y="6573"/>
                </a:cubicBezTo>
                <a:lnTo>
                  <a:pt x="9585" y="6192"/>
                </a:lnTo>
                <a:close/>
                <a:moveTo>
                  <a:pt x="727" y="6632"/>
                </a:moveTo>
                <a:cubicBezTo>
                  <a:pt x="989" y="6823"/>
                  <a:pt x="1322" y="6930"/>
                  <a:pt x="1679" y="6930"/>
                </a:cubicBezTo>
                <a:lnTo>
                  <a:pt x="1691" y="6930"/>
                </a:lnTo>
                <a:lnTo>
                  <a:pt x="1691" y="7121"/>
                </a:lnTo>
                <a:cubicBezTo>
                  <a:pt x="1691" y="7335"/>
                  <a:pt x="1858" y="7478"/>
                  <a:pt x="2048" y="7478"/>
                </a:cubicBezTo>
                <a:lnTo>
                  <a:pt x="2810" y="7478"/>
                </a:lnTo>
                <a:lnTo>
                  <a:pt x="2810" y="9966"/>
                </a:lnTo>
                <a:lnTo>
                  <a:pt x="2429" y="9966"/>
                </a:lnTo>
                <a:lnTo>
                  <a:pt x="2429" y="8085"/>
                </a:lnTo>
                <a:cubicBezTo>
                  <a:pt x="2429" y="7978"/>
                  <a:pt x="2346" y="7906"/>
                  <a:pt x="2239" y="7906"/>
                </a:cubicBezTo>
                <a:cubicBezTo>
                  <a:pt x="2144" y="7906"/>
                  <a:pt x="2060" y="7978"/>
                  <a:pt x="2060" y="8085"/>
                </a:cubicBezTo>
                <a:lnTo>
                  <a:pt x="2060" y="9966"/>
                </a:lnTo>
                <a:lnTo>
                  <a:pt x="1108" y="9966"/>
                </a:lnTo>
                <a:cubicBezTo>
                  <a:pt x="905" y="9966"/>
                  <a:pt x="727" y="9788"/>
                  <a:pt x="727" y="9585"/>
                </a:cubicBezTo>
                <a:lnTo>
                  <a:pt x="727" y="6632"/>
                </a:lnTo>
                <a:close/>
                <a:moveTo>
                  <a:pt x="8466" y="6942"/>
                </a:moveTo>
                <a:lnTo>
                  <a:pt x="8466" y="7144"/>
                </a:lnTo>
                <a:cubicBezTo>
                  <a:pt x="8466" y="7347"/>
                  <a:pt x="8633" y="7502"/>
                  <a:pt x="8823" y="7502"/>
                </a:cubicBezTo>
                <a:lnTo>
                  <a:pt x="9585" y="7502"/>
                </a:lnTo>
                <a:lnTo>
                  <a:pt x="9597" y="9966"/>
                </a:lnTo>
                <a:lnTo>
                  <a:pt x="9192" y="9966"/>
                </a:lnTo>
                <a:lnTo>
                  <a:pt x="9192" y="8085"/>
                </a:lnTo>
                <a:cubicBezTo>
                  <a:pt x="9192" y="7978"/>
                  <a:pt x="9121" y="7906"/>
                  <a:pt x="9014" y="7906"/>
                </a:cubicBezTo>
                <a:cubicBezTo>
                  <a:pt x="8906" y="7906"/>
                  <a:pt x="8835" y="7978"/>
                  <a:pt x="8835" y="8085"/>
                </a:cubicBezTo>
                <a:lnTo>
                  <a:pt x="8835" y="9966"/>
                </a:lnTo>
                <a:lnTo>
                  <a:pt x="3168" y="9966"/>
                </a:lnTo>
                <a:lnTo>
                  <a:pt x="3168" y="7502"/>
                </a:lnTo>
                <a:lnTo>
                  <a:pt x="3180" y="7502"/>
                </a:lnTo>
                <a:cubicBezTo>
                  <a:pt x="3394" y="7502"/>
                  <a:pt x="3537" y="7335"/>
                  <a:pt x="3537" y="7144"/>
                </a:cubicBezTo>
                <a:lnTo>
                  <a:pt x="3537" y="6942"/>
                </a:lnTo>
                <a:close/>
                <a:moveTo>
                  <a:pt x="11300" y="6656"/>
                </a:moveTo>
                <a:lnTo>
                  <a:pt x="11300" y="9585"/>
                </a:lnTo>
                <a:cubicBezTo>
                  <a:pt x="11300" y="9788"/>
                  <a:pt x="11121" y="9966"/>
                  <a:pt x="10907" y="9966"/>
                </a:cubicBezTo>
                <a:lnTo>
                  <a:pt x="9954" y="9966"/>
                </a:lnTo>
                <a:lnTo>
                  <a:pt x="9954" y="7502"/>
                </a:lnTo>
                <a:lnTo>
                  <a:pt x="9966" y="7502"/>
                </a:lnTo>
                <a:cubicBezTo>
                  <a:pt x="10180" y="7502"/>
                  <a:pt x="10323" y="7335"/>
                  <a:pt x="10323" y="7144"/>
                </a:cubicBezTo>
                <a:lnTo>
                  <a:pt x="10323" y="6954"/>
                </a:lnTo>
                <a:lnTo>
                  <a:pt x="10347" y="6954"/>
                </a:lnTo>
                <a:cubicBezTo>
                  <a:pt x="10704" y="6954"/>
                  <a:pt x="11026" y="6847"/>
                  <a:pt x="11300" y="6656"/>
                </a:cubicBezTo>
                <a:close/>
                <a:moveTo>
                  <a:pt x="5144" y="1"/>
                </a:moveTo>
                <a:cubicBezTo>
                  <a:pt x="4787" y="1"/>
                  <a:pt x="4489" y="239"/>
                  <a:pt x="4418" y="584"/>
                </a:cubicBezTo>
                <a:lnTo>
                  <a:pt x="4168" y="1691"/>
                </a:lnTo>
                <a:lnTo>
                  <a:pt x="917" y="1691"/>
                </a:lnTo>
                <a:cubicBezTo>
                  <a:pt x="417" y="1691"/>
                  <a:pt x="1" y="2108"/>
                  <a:pt x="1" y="2620"/>
                </a:cubicBezTo>
                <a:lnTo>
                  <a:pt x="1" y="5251"/>
                </a:lnTo>
                <a:cubicBezTo>
                  <a:pt x="1" y="5656"/>
                  <a:pt x="132" y="6025"/>
                  <a:pt x="370" y="6311"/>
                </a:cubicBezTo>
                <a:lnTo>
                  <a:pt x="370" y="9585"/>
                </a:lnTo>
                <a:cubicBezTo>
                  <a:pt x="370" y="9990"/>
                  <a:pt x="703" y="10323"/>
                  <a:pt x="1120" y="10323"/>
                </a:cubicBezTo>
                <a:lnTo>
                  <a:pt x="10907" y="10323"/>
                </a:lnTo>
                <a:cubicBezTo>
                  <a:pt x="11311" y="10323"/>
                  <a:pt x="11657" y="10002"/>
                  <a:pt x="11657" y="9585"/>
                </a:cubicBezTo>
                <a:lnTo>
                  <a:pt x="11657" y="6311"/>
                </a:lnTo>
                <a:cubicBezTo>
                  <a:pt x="11883" y="6025"/>
                  <a:pt x="12026" y="5656"/>
                  <a:pt x="12026" y="5251"/>
                </a:cubicBezTo>
                <a:lnTo>
                  <a:pt x="12026" y="2620"/>
                </a:lnTo>
                <a:cubicBezTo>
                  <a:pt x="12026" y="2108"/>
                  <a:pt x="11609" y="1691"/>
                  <a:pt x="11097" y="1691"/>
                </a:cubicBezTo>
                <a:lnTo>
                  <a:pt x="7859" y="1691"/>
                </a:lnTo>
                <a:lnTo>
                  <a:pt x="7609" y="584"/>
                </a:lnTo>
                <a:cubicBezTo>
                  <a:pt x="7525" y="239"/>
                  <a:pt x="7228" y="1"/>
                  <a:pt x="6870" y="1"/>
                </a:cubicBezTo>
                <a:close/>
              </a:path>
            </a:pathLst>
          </a:custGeom>
          <a:solidFill>
            <a:srgbClr val="657E93"/>
          </a:solidFill>
          <a:ln>
            <a:solidFill>
              <a:schemeClr val="tx1"/>
            </a:solidFill>
          </a:ln>
        </p:spPr>
        <p:txBody>
          <a:bodyPr spcFirstLastPara="1" wrap="square" lIns="205707" tIns="205707" rIns="205707" bIns="205707" anchor="ctr" anchorCtr="0">
            <a:noAutofit/>
          </a:bodyPr>
          <a:lstStyle/>
          <a:p>
            <a:endParaRPr sz="4050" dirty="0"/>
          </a:p>
        </p:txBody>
      </p:sp>
      <p:grpSp>
        <p:nvGrpSpPr>
          <p:cNvPr id="35" name="Google Shape;11658;p68">
            <a:extLst>
              <a:ext uri="{FF2B5EF4-FFF2-40B4-BE49-F238E27FC236}">
                <a16:creationId xmlns:a16="http://schemas.microsoft.com/office/drawing/2014/main" id="{1DD31ACC-0378-63DA-6CD5-10558A728144}"/>
              </a:ext>
            </a:extLst>
          </p:cNvPr>
          <p:cNvGrpSpPr/>
          <p:nvPr/>
        </p:nvGrpSpPr>
        <p:grpSpPr>
          <a:xfrm>
            <a:off x="11597262" y="2509430"/>
            <a:ext cx="685176" cy="637649"/>
            <a:chOff x="3678830" y="3370933"/>
            <a:chExt cx="369164" cy="323297"/>
          </a:xfrm>
        </p:grpSpPr>
        <p:sp>
          <p:nvSpPr>
            <p:cNvPr id="36" name="Google Shape;11659;p68">
              <a:extLst>
                <a:ext uri="{FF2B5EF4-FFF2-40B4-BE49-F238E27FC236}">
                  <a16:creationId xmlns:a16="http://schemas.microsoft.com/office/drawing/2014/main" id="{BE003BF4-B0AD-07BE-3CED-DE1992F710C2}"/>
                </a:ext>
              </a:extLst>
            </p:cNvPr>
            <p:cNvSpPr/>
            <p:nvPr/>
          </p:nvSpPr>
          <p:spPr>
            <a:xfrm>
              <a:off x="3678830" y="3370933"/>
              <a:ext cx="369164" cy="323297"/>
            </a:xfrm>
            <a:custGeom>
              <a:avLst/>
              <a:gdLst/>
              <a:ahLst/>
              <a:cxnLst/>
              <a:rect l="l" t="t" r="r" b="b"/>
              <a:pathLst>
                <a:path w="11598" h="10157" extrusionOk="0">
                  <a:moveTo>
                    <a:pt x="6514" y="357"/>
                  </a:moveTo>
                  <a:lnTo>
                    <a:pt x="6180" y="3274"/>
                  </a:lnTo>
                  <a:cubicBezTo>
                    <a:pt x="6180" y="3274"/>
                    <a:pt x="6180" y="3286"/>
                    <a:pt x="6168" y="3286"/>
                  </a:cubicBezTo>
                  <a:lnTo>
                    <a:pt x="5406" y="3286"/>
                  </a:lnTo>
                  <a:cubicBezTo>
                    <a:pt x="5406" y="3286"/>
                    <a:pt x="5394" y="3286"/>
                    <a:pt x="5394" y="3274"/>
                  </a:cubicBezTo>
                  <a:lnTo>
                    <a:pt x="5061" y="357"/>
                  </a:lnTo>
                  <a:close/>
                  <a:moveTo>
                    <a:pt x="11026" y="2893"/>
                  </a:moveTo>
                  <a:cubicBezTo>
                    <a:pt x="11133" y="2893"/>
                    <a:pt x="11228" y="2977"/>
                    <a:pt x="11228" y="3084"/>
                  </a:cubicBezTo>
                  <a:lnTo>
                    <a:pt x="11228" y="9620"/>
                  </a:lnTo>
                  <a:lnTo>
                    <a:pt x="11240" y="9620"/>
                  </a:lnTo>
                  <a:cubicBezTo>
                    <a:pt x="11240" y="9716"/>
                    <a:pt x="11157" y="9811"/>
                    <a:pt x="11050" y="9811"/>
                  </a:cubicBezTo>
                  <a:lnTo>
                    <a:pt x="525" y="9811"/>
                  </a:lnTo>
                  <a:cubicBezTo>
                    <a:pt x="418" y="9811"/>
                    <a:pt x="334" y="9716"/>
                    <a:pt x="334" y="9620"/>
                  </a:cubicBezTo>
                  <a:lnTo>
                    <a:pt x="334" y="3084"/>
                  </a:lnTo>
                  <a:cubicBezTo>
                    <a:pt x="334" y="2977"/>
                    <a:pt x="418" y="2893"/>
                    <a:pt x="525" y="2893"/>
                  </a:cubicBezTo>
                  <a:lnTo>
                    <a:pt x="5025" y="2893"/>
                  </a:lnTo>
                  <a:lnTo>
                    <a:pt x="5061" y="3310"/>
                  </a:lnTo>
                  <a:cubicBezTo>
                    <a:pt x="5085" y="3489"/>
                    <a:pt x="5228" y="3620"/>
                    <a:pt x="5406" y="3620"/>
                  </a:cubicBezTo>
                  <a:lnTo>
                    <a:pt x="6168" y="3620"/>
                  </a:lnTo>
                  <a:cubicBezTo>
                    <a:pt x="6347" y="3620"/>
                    <a:pt x="6490" y="3489"/>
                    <a:pt x="6502" y="3310"/>
                  </a:cubicBezTo>
                  <a:lnTo>
                    <a:pt x="6549" y="2893"/>
                  </a:lnTo>
                  <a:close/>
                  <a:moveTo>
                    <a:pt x="4882" y="0"/>
                  </a:moveTo>
                  <a:cubicBezTo>
                    <a:pt x="4847" y="0"/>
                    <a:pt x="4799" y="12"/>
                    <a:pt x="4763" y="60"/>
                  </a:cubicBezTo>
                  <a:cubicBezTo>
                    <a:pt x="4740" y="95"/>
                    <a:pt x="4728" y="155"/>
                    <a:pt x="4728" y="191"/>
                  </a:cubicBezTo>
                  <a:lnTo>
                    <a:pt x="4990" y="2548"/>
                  </a:lnTo>
                  <a:lnTo>
                    <a:pt x="537" y="2548"/>
                  </a:lnTo>
                  <a:cubicBezTo>
                    <a:pt x="239" y="2548"/>
                    <a:pt x="1" y="2786"/>
                    <a:pt x="1" y="3084"/>
                  </a:cubicBezTo>
                  <a:lnTo>
                    <a:pt x="1" y="9620"/>
                  </a:lnTo>
                  <a:cubicBezTo>
                    <a:pt x="1" y="9918"/>
                    <a:pt x="239" y="10156"/>
                    <a:pt x="537" y="10156"/>
                  </a:cubicBezTo>
                  <a:lnTo>
                    <a:pt x="11062" y="10156"/>
                  </a:lnTo>
                  <a:cubicBezTo>
                    <a:pt x="11359" y="10156"/>
                    <a:pt x="11598" y="9918"/>
                    <a:pt x="11598" y="9620"/>
                  </a:cubicBezTo>
                  <a:lnTo>
                    <a:pt x="11598" y="3084"/>
                  </a:lnTo>
                  <a:cubicBezTo>
                    <a:pt x="11586" y="2786"/>
                    <a:pt x="11348" y="2548"/>
                    <a:pt x="11050" y="2548"/>
                  </a:cubicBezTo>
                  <a:lnTo>
                    <a:pt x="6597" y="2548"/>
                  </a:lnTo>
                  <a:lnTo>
                    <a:pt x="6871" y="191"/>
                  </a:lnTo>
                  <a:cubicBezTo>
                    <a:pt x="6871" y="155"/>
                    <a:pt x="6847" y="107"/>
                    <a:pt x="6823" y="60"/>
                  </a:cubicBezTo>
                  <a:cubicBezTo>
                    <a:pt x="6787" y="36"/>
                    <a:pt x="6752" y="0"/>
                    <a:pt x="670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37" name="Google Shape;11660;p68">
              <a:extLst>
                <a:ext uri="{FF2B5EF4-FFF2-40B4-BE49-F238E27FC236}">
                  <a16:creationId xmlns:a16="http://schemas.microsoft.com/office/drawing/2014/main" id="{B35AB741-3C9C-A5DE-E846-94F93087ABAA}"/>
                </a:ext>
              </a:extLst>
            </p:cNvPr>
            <p:cNvSpPr/>
            <p:nvPr/>
          </p:nvSpPr>
          <p:spPr>
            <a:xfrm>
              <a:off x="3713716" y="3498253"/>
              <a:ext cx="126206" cy="161092"/>
            </a:xfrm>
            <a:custGeom>
              <a:avLst/>
              <a:gdLst/>
              <a:ahLst/>
              <a:cxnLst/>
              <a:rect l="l" t="t" r="r" b="b"/>
              <a:pathLst>
                <a:path w="3965" h="5061" extrusionOk="0">
                  <a:moveTo>
                    <a:pt x="2155" y="1251"/>
                  </a:moveTo>
                  <a:cubicBezTo>
                    <a:pt x="2358" y="1251"/>
                    <a:pt x="2524" y="1418"/>
                    <a:pt x="2524" y="1632"/>
                  </a:cubicBezTo>
                  <a:lnTo>
                    <a:pt x="2524" y="1989"/>
                  </a:lnTo>
                  <a:cubicBezTo>
                    <a:pt x="2536" y="2299"/>
                    <a:pt x="2286" y="2537"/>
                    <a:pt x="1977" y="2537"/>
                  </a:cubicBezTo>
                  <a:cubicBezTo>
                    <a:pt x="1667" y="2537"/>
                    <a:pt x="1429" y="2287"/>
                    <a:pt x="1429" y="1989"/>
                  </a:cubicBezTo>
                  <a:lnTo>
                    <a:pt x="1429" y="1632"/>
                  </a:lnTo>
                  <a:cubicBezTo>
                    <a:pt x="1429" y="1418"/>
                    <a:pt x="1584" y="1251"/>
                    <a:pt x="1798" y="1251"/>
                  </a:cubicBezTo>
                  <a:close/>
                  <a:moveTo>
                    <a:pt x="2167" y="2846"/>
                  </a:moveTo>
                  <a:lnTo>
                    <a:pt x="2167" y="2953"/>
                  </a:lnTo>
                  <a:cubicBezTo>
                    <a:pt x="2167" y="3025"/>
                    <a:pt x="2179" y="3084"/>
                    <a:pt x="2227" y="3132"/>
                  </a:cubicBezTo>
                  <a:lnTo>
                    <a:pt x="1989" y="3370"/>
                  </a:lnTo>
                  <a:lnTo>
                    <a:pt x="1977" y="3370"/>
                  </a:lnTo>
                  <a:lnTo>
                    <a:pt x="1739" y="3132"/>
                  </a:lnTo>
                  <a:cubicBezTo>
                    <a:pt x="1762" y="3073"/>
                    <a:pt x="1774" y="3013"/>
                    <a:pt x="1774" y="2953"/>
                  </a:cubicBezTo>
                  <a:lnTo>
                    <a:pt x="1774" y="2846"/>
                  </a:lnTo>
                  <a:cubicBezTo>
                    <a:pt x="1834" y="2858"/>
                    <a:pt x="1917" y="2858"/>
                    <a:pt x="1977" y="2858"/>
                  </a:cubicBezTo>
                  <a:cubicBezTo>
                    <a:pt x="2036" y="2858"/>
                    <a:pt x="2108" y="2846"/>
                    <a:pt x="2167" y="2846"/>
                  </a:cubicBezTo>
                  <a:close/>
                  <a:moveTo>
                    <a:pt x="2512" y="3334"/>
                  </a:moveTo>
                  <a:lnTo>
                    <a:pt x="2810" y="3489"/>
                  </a:lnTo>
                  <a:cubicBezTo>
                    <a:pt x="2870" y="3513"/>
                    <a:pt x="2917" y="3596"/>
                    <a:pt x="2917" y="3668"/>
                  </a:cubicBezTo>
                  <a:lnTo>
                    <a:pt x="2917" y="4727"/>
                  </a:lnTo>
                  <a:lnTo>
                    <a:pt x="1072" y="4727"/>
                  </a:lnTo>
                  <a:lnTo>
                    <a:pt x="1072" y="3668"/>
                  </a:lnTo>
                  <a:cubicBezTo>
                    <a:pt x="1072" y="3596"/>
                    <a:pt x="1108" y="3537"/>
                    <a:pt x="1167" y="3489"/>
                  </a:cubicBezTo>
                  <a:lnTo>
                    <a:pt x="1465" y="3334"/>
                  </a:lnTo>
                  <a:lnTo>
                    <a:pt x="1739" y="3608"/>
                  </a:lnTo>
                  <a:cubicBezTo>
                    <a:pt x="1810" y="3680"/>
                    <a:pt x="1905" y="3704"/>
                    <a:pt x="1989" y="3704"/>
                  </a:cubicBezTo>
                  <a:cubicBezTo>
                    <a:pt x="2084" y="3704"/>
                    <a:pt x="2167" y="3680"/>
                    <a:pt x="2239" y="3608"/>
                  </a:cubicBezTo>
                  <a:lnTo>
                    <a:pt x="2512" y="3334"/>
                  </a:lnTo>
                  <a:close/>
                  <a:moveTo>
                    <a:pt x="3608" y="334"/>
                  </a:moveTo>
                  <a:cubicBezTo>
                    <a:pt x="3608" y="334"/>
                    <a:pt x="3632" y="334"/>
                    <a:pt x="3632" y="346"/>
                  </a:cubicBezTo>
                  <a:lnTo>
                    <a:pt x="3632" y="4704"/>
                  </a:lnTo>
                  <a:lnTo>
                    <a:pt x="3239" y="4727"/>
                  </a:lnTo>
                  <a:lnTo>
                    <a:pt x="3239" y="3668"/>
                  </a:lnTo>
                  <a:cubicBezTo>
                    <a:pt x="3239" y="3454"/>
                    <a:pt x="3120" y="3275"/>
                    <a:pt x="2941" y="3192"/>
                  </a:cubicBezTo>
                  <a:lnTo>
                    <a:pt x="2512" y="2977"/>
                  </a:lnTo>
                  <a:lnTo>
                    <a:pt x="2512" y="2965"/>
                  </a:lnTo>
                  <a:lnTo>
                    <a:pt x="2512" y="2715"/>
                  </a:lnTo>
                  <a:cubicBezTo>
                    <a:pt x="2739" y="2549"/>
                    <a:pt x="2870" y="2275"/>
                    <a:pt x="2870" y="2001"/>
                  </a:cubicBezTo>
                  <a:lnTo>
                    <a:pt x="2870" y="1644"/>
                  </a:lnTo>
                  <a:cubicBezTo>
                    <a:pt x="2870" y="1251"/>
                    <a:pt x="2536" y="929"/>
                    <a:pt x="2155" y="929"/>
                  </a:cubicBezTo>
                  <a:lnTo>
                    <a:pt x="1798" y="929"/>
                  </a:lnTo>
                  <a:cubicBezTo>
                    <a:pt x="1405" y="929"/>
                    <a:pt x="1084" y="1251"/>
                    <a:pt x="1084" y="1644"/>
                  </a:cubicBezTo>
                  <a:lnTo>
                    <a:pt x="1084" y="2001"/>
                  </a:lnTo>
                  <a:cubicBezTo>
                    <a:pt x="1084" y="2299"/>
                    <a:pt x="1227" y="2549"/>
                    <a:pt x="1441" y="2715"/>
                  </a:cubicBezTo>
                  <a:lnTo>
                    <a:pt x="1441" y="2965"/>
                  </a:lnTo>
                  <a:lnTo>
                    <a:pt x="1441" y="2977"/>
                  </a:lnTo>
                  <a:lnTo>
                    <a:pt x="1012" y="3192"/>
                  </a:lnTo>
                  <a:cubicBezTo>
                    <a:pt x="834" y="3275"/>
                    <a:pt x="715" y="3454"/>
                    <a:pt x="715" y="3668"/>
                  </a:cubicBezTo>
                  <a:lnTo>
                    <a:pt x="715" y="4727"/>
                  </a:lnTo>
                  <a:lnTo>
                    <a:pt x="357" y="4727"/>
                  </a:lnTo>
                  <a:cubicBezTo>
                    <a:pt x="357" y="4727"/>
                    <a:pt x="334" y="4727"/>
                    <a:pt x="334" y="4704"/>
                  </a:cubicBezTo>
                  <a:lnTo>
                    <a:pt x="334" y="346"/>
                  </a:lnTo>
                  <a:cubicBezTo>
                    <a:pt x="334" y="346"/>
                    <a:pt x="334" y="334"/>
                    <a:pt x="357" y="334"/>
                  </a:cubicBezTo>
                  <a:close/>
                  <a:moveTo>
                    <a:pt x="357" y="1"/>
                  </a:moveTo>
                  <a:cubicBezTo>
                    <a:pt x="155" y="1"/>
                    <a:pt x="0" y="167"/>
                    <a:pt x="0" y="358"/>
                  </a:cubicBezTo>
                  <a:lnTo>
                    <a:pt x="0" y="4704"/>
                  </a:lnTo>
                  <a:cubicBezTo>
                    <a:pt x="0" y="4906"/>
                    <a:pt x="155" y="5061"/>
                    <a:pt x="357" y="5061"/>
                  </a:cubicBezTo>
                  <a:lnTo>
                    <a:pt x="3608" y="5061"/>
                  </a:lnTo>
                  <a:cubicBezTo>
                    <a:pt x="3810" y="5061"/>
                    <a:pt x="3965" y="4906"/>
                    <a:pt x="3965" y="4704"/>
                  </a:cubicBezTo>
                  <a:lnTo>
                    <a:pt x="3965" y="346"/>
                  </a:lnTo>
                  <a:cubicBezTo>
                    <a:pt x="3965" y="155"/>
                    <a:pt x="3810" y="1"/>
                    <a:pt x="36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38" name="Google Shape;11661;p68">
              <a:extLst>
                <a:ext uri="{FF2B5EF4-FFF2-40B4-BE49-F238E27FC236}">
                  <a16:creationId xmlns:a16="http://schemas.microsoft.com/office/drawing/2014/main" id="{E65AD273-81A7-CB80-AC91-89862E9C5AE6}"/>
                </a:ext>
              </a:extLst>
            </p:cNvPr>
            <p:cNvSpPr/>
            <p:nvPr/>
          </p:nvSpPr>
          <p:spPr>
            <a:xfrm>
              <a:off x="3863795" y="3498253"/>
              <a:ext cx="149728" cy="34154"/>
            </a:xfrm>
            <a:custGeom>
              <a:avLst/>
              <a:gdLst/>
              <a:ahLst/>
              <a:cxnLst/>
              <a:rect l="l" t="t" r="r" b="b"/>
              <a:pathLst>
                <a:path w="4704" h="1073" extrusionOk="0">
                  <a:moveTo>
                    <a:pt x="4334" y="334"/>
                  </a:moveTo>
                  <a:cubicBezTo>
                    <a:pt x="4334" y="334"/>
                    <a:pt x="4346" y="334"/>
                    <a:pt x="4346" y="346"/>
                  </a:cubicBezTo>
                  <a:lnTo>
                    <a:pt x="4346" y="715"/>
                  </a:lnTo>
                  <a:lnTo>
                    <a:pt x="345" y="739"/>
                  </a:lnTo>
                  <a:cubicBezTo>
                    <a:pt x="345" y="739"/>
                    <a:pt x="322" y="739"/>
                    <a:pt x="322" y="715"/>
                  </a:cubicBezTo>
                  <a:lnTo>
                    <a:pt x="322" y="346"/>
                  </a:lnTo>
                  <a:cubicBezTo>
                    <a:pt x="322" y="346"/>
                    <a:pt x="322" y="334"/>
                    <a:pt x="345" y="334"/>
                  </a:cubicBezTo>
                  <a:close/>
                  <a:moveTo>
                    <a:pt x="357" y="1"/>
                  </a:moveTo>
                  <a:cubicBezTo>
                    <a:pt x="167" y="1"/>
                    <a:pt x="0" y="167"/>
                    <a:pt x="0" y="358"/>
                  </a:cubicBezTo>
                  <a:lnTo>
                    <a:pt x="0" y="715"/>
                  </a:lnTo>
                  <a:cubicBezTo>
                    <a:pt x="0" y="917"/>
                    <a:pt x="167" y="1072"/>
                    <a:pt x="357" y="1072"/>
                  </a:cubicBezTo>
                  <a:lnTo>
                    <a:pt x="4346" y="1072"/>
                  </a:lnTo>
                  <a:cubicBezTo>
                    <a:pt x="4536" y="1072"/>
                    <a:pt x="4703" y="917"/>
                    <a:pt x="4703" y="715"/>
                  </a:cubicBezTo>
                  <a:lnTo>
                    <a:pt x="4703" y="346"/>
                  </a:lnTo>
                  <a:cubicBezTo>
                    <a:pt x="4691" y="155"/>
                    <a:pt x="4536" y="1"/>
                    <a:pt x="43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39" name="Google Shape;11662;p68">
              <a:extLst>
                <a:ext uri="{FF2B5EF4-FFF2-40B4-BE49-F238E27FC236}">
                  <a16:creationId xmlns:a16="http://schemas.microsoft.com/office/drawing/2014/main" id="{FC78995D-00C9-5698-929F-EDEE601C21A1}"/>
                </a:ext>
              </a:extLst>
            </p:cNvPr>
            <p:cNvSpPr/>
            <p:nvPr/>
          </p:nvSpPr>
          <p:spPr>
            <a:xfrm>
              <a:off x="3863413" y="3544502"/>
              <a:ext cx="114843" cy="33740"/>
            </a:xfrm>
            <a:custGeom>
              <a:avLst/>
              <a:gdLst/>
              <a:ahLst/>
              <a:cxnLst/>
              <a:rect l="l" t="t" r="r" b="b"/>
              <a:pathLst>
                <a:path w="3608" h="1060" extrusionOk="0">
                  <a:moveTo>
                    <a:pt x="3251" y="334"/>
                  </a:moveTo>
                  <a:cubicBezTo>
                    <a:pt x="3251" y="334"/>
                    <a:pt x="3274" y="334"/>
                    <a:pt x="3274" y="357"/>
                  </a:cubicBezTo>
                  <a:lnTo>
                    <a:pt x="3274" y="715"/>
                  </a:lnTo>
                  <a:lnTo>
                    <a:pt x="357" y="727"/>
                  </a:lnTo>
                  <a:cubicBezTo>
                    <a:pt x="357" y="727"/>
                    <a:pt x="334" y="727"/>
                    <a:pt x="334" y="715"/>
                  </a:cubicBezTo>
                  <a:lnTo>
                    <a:pt x="334" y="357"/>
                  </a:lnTo>
                  <a:cubicBezTo>
                    <a:pt x="334" y="357"/>
                    <a:pt x="334" y="334"/>
                    <a:pt x="357" y="334"/>
                  </a:cubicBezTo>
                  <a:close/>
                  <a:moveTo>
                    <a:pt x="357" y="0"/>
                  </a:moveTo>
                  <a:cubicBezTo>
                    <a:pt x="155" y="0"/>
                    <a:pt x="0" y="155"/>
                    <a:pt x="0" y="357"/>
                  </a:cubicBezTo>
                  <a:lnTo>
                    <a:pt x="0" y="715"/>
                  </a:lnTo>
                  <a:cubicBezTo>
                    <a:pt x="0" y="905"/>
                    <a:pt x="155" y="1060"/>
                    <a:pt x="357" y="1060"/>
                  </a:cubicBezTo>
                  <a:lnTo>
                    <a:pt x="3251" y="1060"/>
                  </a:lnTo>
                  <a:cubicBezTo>
                    <a:pt x="3453" y="1060"/>
                    <a:pt x="3608" y="905"/>
                    <a:pt x="3608" y="715"/>
                  </a:cubicBezTo>
                  <a:lnTo>
                    <a:pt x="3608" y="357"/>
                  </a:lnTo>
                  <a:cubicBezTo>
                    <a:pt x="3608" y="155"/>
                    <a:pt x="3453" y="0"/>
                    <a:pt x="325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40" name="Google Shape;11663;p68">
              <a:extLst>
                <a:ext uri="{FF2B5EF4-FFF2-40B4-BE49-F238E27FC236}">
                  <a16:creationId xmlns:a16="http://schemas.microsoft.com/office/drawing/2014/main" id="{452CC6BC-AA7D-EAAE-B650-865CD4E26F05}"/>
                </a:ext>
              </a:extLst>
            </p:cNvPr>
            <p:cNvSpPr/>
            <p:nvPr/>
          </p:nvSpPr>
          <p:spPr>
            <a:xfrm>
              <a:off x="3863795" y="3590719"/>
              <a:ext cx="68625" cy="10663"/>
            </a:xfrm>
            <a:custGeom>
              <a:avLst/>
              <a:gdLst/>
              <a:ahLst/>
              <a:cxnLst/>
              <a:rect l="l" t="t" r="r" b="b"/>
              <a:pathLst>
                <a:path w="2156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977" y="334"/>
                  </a:lnTo>
                  <a:cubicBezTo>
                    <a:pt x="2072" y="334"/>
                    <a:pt x="2143" y="251"/>
                    <a:pt x="2143" y="168"/>
                  </a:cubicBezTo>
                  <a:cubicBezTo>
                    <a:pt x="2155" y="72"/>
                    <a:pt x="2072" y="1"/>
                    <a:pt x="19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 dirty="0"/>
            </a:p>
          </p:txBody>
        </p:sp>
        <p:sp>
          <p:nvSpPr>
            <p:cNvPr id="41" name="Google Shape;11664;p68">
              <a:extLst>
                <a:ext uri="{FF2B5EF4-FFF2-40B4-BE49-F238E27FC236}">
                  <a16:creationId xmlns:a16="http://schemas.microsoft.com/office/drawing/2014/main" id="{4AAE3B4B-9565-1A3B-30B1-7E550AB83B4D}"/>
                </a:ext>
              </a:extLst>
            </p:cNvPr>
            <p:cNvSpPr/>
            <p:nvPr/>
          </p:nvSpPr>
          <p:spPr>
            <a:xfrm>
              <a:off x="3944897" y="3590719"/>
              <a:ext cx="33358" cy="10663"/>
            </a:xfrm>
            <a:custGeom>
              <a:avLst/>
              <a:gdLst/>
              <a:ahLst/>
              <a:cxnLst/>
              <a:rect l="l" t="t" r="r" b="b"/>
              <a:pathLst>
                <a:path w="1048" h="335" extrusionOk="0">
                  <a:moveTo>
                    <a:pt x="155" y="1"/>
                  </a:moveTo>
                  <a:cubicBezTo>
                    <a:pt x="71" y="1"/>
                    <a:pt x="0" y="72"/>
                    <a:pt x="0" y="168"/>
                  </a:cubicBezTo>
                  <a:cubicBezTo>
                    <a:pt x="0" y="251"/>
                    <a:pt x="71" y="334"/>
                    <a:pt x="155" y="334"/>
                  </a:cubicBezTo>
                  <a:lnTo>
                    <a:pt x="893" y="334"/>
                  </a:lnTo>
                  <a:cubicBezTo>
                    <a:pt x="976" y="334"/>
                    <a:pt x="1048" y="251"/>
                    <a:pt x="1048" y="168"/>
                  </a:cubicBezTo>
                  <a:cubicBezTo>
                    <a:pt x="1048" y="72"/>
                    <a:pt x="976" y="1"/>
                    <a:pt x="89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42" name="Google Shape;11665;p68">
              <a:extLst>
                <a:ext uri="{FF2B5EF4-FFF2-40B4-BE49-F238E27FC236}">
                  <a16:creationId xmlns:a16="http://schemas.microsoft.com/office/drawing/2014/main" id="{639B9CD0-5039-0BBD-9783-5B9374191E39}"/>
                </a:ext>
              </a:extLst>
            </p:cNvPr>
            <p:cNvSpPr/>
            <p:nvPr/>
          </p:nvSpPr>
          <p:spPr>
            <a:xfrm>
              <a:off x="3864176" y="3625223"/>
              <a:ext cx="21995" cy="10631"/>
            </a:xfrm>
            <a:custGeom>
              <a:avLst/>
              <a:gdLst/>
              <a:ahLst/>
              <a:cxnLst/>
              <a:rect l="l" t="t" r="r" b="b"/>
              <a:pathLst>
                <a:path w="691" h="334" extrusionOk="0">
                  <a:moveTo>
                    <a:pt x="167" y="0"/>
                  </a:moveTo>
                  <a:cubicBezTo>
                    <a:pt x="71" y="0"/>
                    <a:pt x="0" y="84"/>
                    <a:pt x="0" y="167"/>
                  </a:cubicBezTo>
                  <a:cubicBezTo>
                    <a:pt x="0" y="262"/>
                    <a:pt x="71" y="334"/>
                    <a:pt x="167" y="334"/>
                  </a:cubicBezTo>
                  <a:lnTo>
                    <a:pt x="524" y="334"/>
                  </a:lnTo>
                  <a:cubicBezTo>
                    <a:pt x="607" y="334"/>
                    <a:pt x="691" y="262"/>
                    <a:pt x="691" y="167"/>
                  </a:cubicBezTo>
                  <a:cubicBezTo>
                    <a:pt x="691" y="84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43" name="Google Shape;11666;p68">
              <a:extLst>
                <a:ext uri="{FF2B5EF4-FFF2-40B4-BE49-F238E27FC236}">
                  <a16:creationId xmlns:a16="http://schemas.microsoft.com/office/drawing/2014/main" id="{8EFBC23D-F956-A7B3-9DFD-6EEFC678AFF9}"/>
                </a:ext>
              </a:extLst>
            </p:cNvPr>
            <p:cNvSpPr/>
            <p:nvPr/>
          </p:nvSpPr>
          <p:spPr>
            <a:xfrm>
              <a:off x="3898648" y="3625223"/>
              <a:ext cx="56498" cy="10631"/>
            </a:xfrm>
            <a:custGeom>
              <a:avLst/>
              <a:gdLst/>
              <a:ahLst/>
              <a:cxnLst/>
              <a:rect l="l" t="t" r="r" b="b"/>
              <a:pathLst>
                <a:path w="1775" h="334" extrusionOk="0">
                  <a:moveTo>
                    <a:pt x="167" y="0"/>
                  </a:moveTo>
                  <a:cubicBezTo>
                    <a:pt x="84" y="0"/>
                    <a:pt x="0" y="84"/>
                    <a:pt x="0" y="167"/>
                  </a:cubicBezTo>
                  <a:cubicBezTo>
                    <a:pt x="0" y="262"/>
                    <a:pt x="84" y="334"/>
                    <a:pt x="167" y="334"/>
                  </a:cubicBezTo>
                  <a:lnTo>
                    <a:pt x="1608" y="334"/>
                  </a:lnTo>
                  <a:cubicBezTo>
                    <a:pt x="1703" y="334"/>
                    <a:pt x="1775" y="262"/>
                    <a:pt x="1775" y="167"/>
                  </a:cubicBezTo>
                  <a:cubicBezTo>
                    <a:pt x="1775" y="84"/>
                    <a:pt x="1703" y="0"/>
                    <a:pt x="1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44" name="Google Shape;11667;p68">
              <a:extLst>
                <a:ext uri="{FF2B5EF4-FFF2-40B4-BE49-F238E27FC236}">
                  <a16:creationId xmlns:a16="http://schemas.microsoft.com/office/drawing/2014/main" id="{4576805B-3725-2027-C29D-4B6DF60B1843}"/>
                </a:ext>
              </a:extLst>
            </p:cNvPr>
            <p:cNvSpPr/>
            <p:nvPr/>
          </p:nvSpPr>
          <p:spPr>
            <a:xfrm>
              <a:off x="3864176" y="3648713"/>
              <a:ext cx="21995" cy="10249"/>
            </a:xfrm>
            <a:custGeom>
              <a:avLst/>
              <a:gdLst/>
              <a:ahLst/>
              <a:cxnLst/>
              <a:rect l="l" t="t" r="r" b="b"/>
              <a:pathLst>
                <a:path w="691" h="322" extrusionOk="0">
                  <a:moveTo>
                    <a:pt x="167" y="0"/>
                  </a:moveTo>
                  <a:cubicBezTo>
                    <a:pt x="71" y="0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524" y="322"/>
                  </a:lnTo>
                  <a:cubicBezTo>
                    <a:pt x="607" y="322"/>
                    <a:pt x="691" y="251"/>
                    <a:pt x="691" y="155"/>
                  </a:cubicBezTo>
                  <a:cubicBezTo>
                    <a:pt x="691" y="72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45" name="Google Shape;11668;p68">
              <a:extLst>
                <a:ext uri="{FF2B5EF4-FFF2-40B4-BE49-F238E27FC236}">
                  <a16:creationId xmlns:a16="http://schemas.microsoft.com/office/drawing/2014/main" id="{B4CD66C8-39FF-D709-5C8A-776E99260DF1}"/>
                </a:ext>
              </a:extLst>
            </p:cNvPr>
            <p:cNvSpPr/>
            <p:nvPr/>
          </p:nvSpPr>
          <p:spPr>
            <a:xfrm>
              <a:off x="3898648" y="3648713"/>
              <a:ext cx="56498" cy="10249"/>
            </a:xfrm>
            <a:custGeom>
              <a:avLst/>
              <a:gdLst/>
              <a:ahLst/>
              <a:cxnLst/>
              <a:rect l="l" t="t" r="r" b="b"/>
              <a:pathLst>
                <a:path w="1775" h="322" extrusionOk="0">
                  <a:moveTo>
                    <a:pt x="167" y="0"/>
                  </a:moveTo>
                  <a:cubicBezTo>
                    <a:pt x="84" y="0"/>
                    <a:pt x="0" y="72"/>
                    <a:pt x="0" y="155"/>
                  </a:cubicBezTo>
                  <a:cubicBezTo>
                    <a:pt x="0" y="251"/>
                    <a:pt x="84" y="322"/>
                    <a:pt x="167" y="322"/>
                  </a:cubicBezTo>
                  <a:lnTo>
                    <a:pt x="1608" y="322"/>
                  </a:lnTo>
                  <a:cubicBezTo>
                    <a:pt x="1703" y="322"/>
                    <a:pt x="1775" y="251"/>
                    <a:pt x="1775" y="155"/>
                  </a:cubicBezTo>
                  <a:cubicBezTo>
                    <a:pt x="1775" y="72"/>
                    <a:pt x="1703" y="0"/>
                    <a:pt x="1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46" name="Google Shape;11669;p68">
              <a:extLst>
                <a:ext uri="{FF2B5EF4-FFF2-40B4-BE49-F238E27FC236}">
                  <a16:creationId xmlns:a16="http://schemas.microsoft.com/office/drawing/2014/main" id="{47A3B6B8-FEB9-9A09-91A1-9C643CF01A29}"/>
                </a:ext>
              </a:extLst>
            </p:cNvPr>
            <p:cNvSpPr/>
            <p:nvPr/>
          </p:nvSpPr>
          <p:spPr>
            <a:xfrm>
              <a:off x="3858097" y="3452036"/>
              <a:ext cx="11013" cy="10249"/>
            </a:xfrm>
            <a:custGeom>
              <a:avLst/>
              <a:gdLst/>
              <a:ahLst/>
              <a:cxnLst/>
              <a:rect l="l" t="t" r="r" b="b"/>
              <a:pathLst>
                <a:path w="346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46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67F64060-8407-C8BA-B4AB-9EEB441AF5FA}"/>
              </a:ext>
            </a:extLst>
          </p:cNvPr>
          <p:cNvSpPr/>
          <p:nvPr/>
        </p:nvSpPr>
        <p:spPr>
          <a:xfrm>
            <a:off x="14549603" y="644714"/>
            <a:ext cx="3366552" cy="30846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  <a:p>
            <a:r>
              <a:rPr lang="en-IN" sz="2700" b="1" dirty="0"/>
              <a:t>Dynamic Skill </a:t>
            </a:r>
          </a:p>
          <a:p>
            <a:r>
              <a:rPr lang="en-IN" sz="2700" b="1" dirty="0"/>
              <a:t>Identity Graph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Identity continuity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Identity evolution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Identity recovery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Identity relationships</a:t>
            </a:r>
            <a:endParaRPr lang="en-IN" sz="2400" b="1" dirty="0"/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</p:txBody>
      </p:sp>
      <p:grpSp>
        <p:nvGrpSpPr>
          <p:cNvPr id="49" name="Google Shape;9794;p64">
            <a:extLst>
              <a:ext uri="{FF2B5EF4-FFF2-40B4-BE49-F238E27FC236}">
                <a16:creationId xmlns:a16="http://schemas.microsoft.com/office/drawing/2014/main" id="{A9FB1B77-7D84-FD26-3B36-A60ED7DA00B7}"/>
              </a:ext>
            </a:extLst>
          </p:cNvPr>
          <p:cNvGrpSpPr/>
          <p:nvPr/>
        </p:nvGrpSpPr>
        <p:grpSpPr>
          <a:xfrm>
            <a:off x="17033338" y="652528"/>
            <a:ext cx="728222" cy="686834"/>
            <a:chOff x="8006505" y="3390044"/>
            <a:chExt cx="323654" cy="303189"/>
          </a:xfrm>
        </p:grpSpPr>
        <p:sp>
          <p:nvSpPr>
            <p:cNvPr id="50" name="Google Shape;9795;p64">
              <a:extLst>
                <a:ext uri="{FF2B5EF4-FFF2-40B4-BE49-F238E27FC236}">
                  <a16:creationId xmlns:a16="http://schemas.microsoft.com/office/drawing/2014/main" id="{50FD44D5-EB87-B079-7491-5C2C6DCD6939}"/>
                </a:ext>
              </a:extLst>
            </p:cNvPr>
            <p:cNvSpPr/>
            <p:nvPr/>
          </p:nvSpPr>
          <p:spPr>
            <a:xfrm>
              <a:off x="8006505" y="3390044"/>
              <a:ext cx="323654" cy="303189"/>
            </a:xfrm>
            <a:custGeom>
              <a:avLst/>
              <a:gdLst/>
              <a:ahLst/>
              <a:cxnLst/>
              <a:rect l="l" t="t" r="r" b="b"/>
              <a:pathLst>
                <a:path w="10169" h="9526" extrusionOk="0">
                  <a:moveTo>
                    <a:pt x="5358" y="322"/>
                  </a:moveTo>
                  <a:cubicBezTo>
                    <a:pt x="5704" y="322"/>
                    <a:pt x="5965" y="608"/>
                    <a:pt x="5965" y="930"/>
                  </a:cubicBezTo>
                  <a:lnTo>
                    <a:pt x="5965" y="1311"/>
                  </a:lnTo>
                  <a:cubicBezTo>
                    <a:pt x="5965" y="1584"/>
                    <a:pt x="6192" y="1811"/>
                    <a:pt x="6477" y="1811"/>
                  </a:cubicBezTo>
                  <a:lnTo>
                    <a:pt x="6620" y="1811"/>
                  </a:lnTo>
                  <a:cubicBezTo>
                    <a:pt x="6727" y="1811"/>
                    <a:pt x="6811" y="1906"/>
                    <a:pt x="6811" y="2001"/>
                  </a:cubicBezTo>
                  <a:lnTo>
                    <a:pt x="6811" y="3013"/>
                  </a:lnTo>
                  <a:cubicBezTo>
                    <a:pt x="6811" y="3120"/>
                    <a:pt x="6727" y="3204"/>
                    <a:pt x="6620" y="3204"/>
                  </a:cubicBezTo>
                  <a:lnTo>
                    <a:pt x="3465" y="3204"/>
                  </a:lnTo>
                  <a:cubicBezTo>
                    <a:pt x="3358" y="3204"/>
                    <a:pt x="3275" y="3120"/>
                    <a:pt x="3275" y="3013"/>
                  </a:cubicBezTo>
                  <a:lnTo>
                    <a:pt x="3322" y="2001"/>
                  </a:lnTo>
                  <a:cubicBezTo>
                    <a:pt x="3322" y="1894"/>
                    <a:pt x="3406" y="1811"/>
                    <a:pt x="3513" y="1811"/>
                  </a:cubicBezTo>
                  <a:lnTo>
                    <a:pt x="3656" y="1811"/>
                  </a:lnTo>
                  <a:cubicBezTo>
                    <a:pt x="3941" y="1811"/>
                    <a:pt x="4168" y="1584"/>
                    <a:pt x="4168" y="1311"/>
                  </a:cubicBezTo>
                  <a:lnTo>
                    <a:pt x="4168" y="930"/>
                  </a:lnTo>
                  <a:cubicBezTo>
                    <a:pt x="4168" y="596"/>
                    <a:pt x="4453" y="322"/>
                    <a:pt x="4775" y="322"/>
                  </a:cubicBezTo>
                  <a:close/>
                  <a:moveTo>
                    <a:pt x="9275" y="2239"/>
                  </a:moveTo>
                  <a:cubicBezTo>
                    <a:pt x="9585" y="2239"/>
                    <a:pt x="9847" y="2501"/>
                    <a:pt x="9847" y="2823"/>
                  </a:cubicBezTo>
                  <a:lnTo>
                    <a:pt x="9835" y="8633"/>
                  </a:lnTo>
                  <a:cubicBezTo>
                    <a:pt x="9835" y="8943"/>
                    <a:pt x="9585" y="9204"/>
                    <a:pt x="9252" y="9204"/>
                  </a:cubicBezTo>
                  <a:lnTo>
                    <a:pt x="881" y="9204"/>
                  </a:lnTo>
                  <a:cubicBezTo>
                    <a:pt x="560" y="9204"/>
                    <a:pt x="298" y="8954"/>
                    <a:pt x="298" y="8633"/>
                  </a:cubicBezTo>
                  <a:lnTo>
                    <a:pt x="298" y="2823"/>
                  </a:lnTo>
                  <a:cubicBezTo>
                    <a:pt x="298" y="2513"/>
                    <a:pt x="548" y="2239"/>
                    <a:pt x="881" y="2239"/>
                  </a:cubicBezTo>
                  <a:lnTo>
                    <a:pt x="2977" y="2239"/>
                  </a:lnTo>
                  <a:lnTo>
                    <a:pt x="2977" y="2775"/>
                  </a:lnTo>
                  <a:lnTo>
                    <a:pt x="1001" y="2775"/>
                  </a:lnTo>
                  <a:cubicBezTo>
                    <a:pt x="905" y="2775"/>
                    <a:pt x="834" y="2858"/>
                    <a:pt x="834" y="2942"/>
                  </a:cubicBezTo>
                  <a:lnTo>
                    <a:pt x="834" y="8514"/>
                  </a:lnTo>
                  <a:cubicBezTo>
                    <a:pt x="834" y="8597"/>
                    <a:pt x="905" y="8669"/>
                    <a:pt x="1001" y="8669"/>
                  </a:cubicBezTo>
                  <a:lnTo>
                    <a:pt x="6418" y="8669"/>
                  </a:lnTo>
                  <a:cubicBezTo>
                    <a:pt x="6501" y="8669"/>
                    <a:pt x="6573" y="8597"/>
                    <a:pt x="6573" y="8514"/>
                  </a:cubicBezTo>
                  <a:cubicBezTo>
                    <a:pt x="6573" y="8419"/>
                    <a:pt x="6501" y="8347"/>
                    <a:pt x="6418" y="8347"/>
                  </a:cubicBezTo>
                  <a:lnTo>
                    <a:pt x="1155" y="8347"/>
                  </a:lnTo>
                  <a:lnTo>
                    <a:pt x="1155" y="3108"/>
                  </a:lnTo>
                  <a:lnTo>
                    <a:pt x="2989" y="3108"/>
                  </a:lnTo>
                  <a:cubicBezTo>
                    <a:pt x="3037" y="3347"/>
                    <a:pt x="3239" y="3537"/>
                    <a:pt x="3501" y="3537"/>
                  </a:cubicBezTo>
                  <a:lnTo>
                    <a:pt x="6656" y="3537"/>
                  </a:lnTo>
                  <a:cubicBezTo>
                    <a:pt x="6906" y="3537"/>
                    <a:pt x="7108" y="3359"/>
                    <a:pt x="7156" y="3108"/>
                  </a:cubicBezTo>
                  <a:lnTo>
                    <a:pt x="8990" y="3108"/>
                  </a:lnTo>
                  <a:lnTo>
                    <a:pt x="8990" y="8347"/>
                  </a:lnTo>
                  <a:lnTo>
                    <a:pt x="7216" y="8347"/>
                  </a:lnTo>
                  <a:cubicBezTo>
                    <a:pt x="7132" y="8347"/>
                    <a:pt x="7049" y="8419"/>
                    <a:pt x="7049" y="8514"/>
                  </a:cubicBezTo>
                  <a:cubicBezTo>
                    <a:pt x="7049" y="8597"/>
                    <a:pt x="7132" y="8669"/>
                    <a:pt x="7216" y="8669"/>
                  </a:cubicBezTo>
                  <a:lnTo>
                    <a:pt x="9156" y="8669"/>
                  </a:lnTo>
                  <a:cubicBezTo>
                    <a:pt x="9240" y="8669"/>
                    <a:pt x="9311" y="8597"/>
                    <a:pt x="9311" y="8514"/>
                  </a:cubicBezTo>
                  <a:lnTo>
                    <a:pt x="9311" y="2942"/>
                  </a:lnTo>
                  <a:cubicBezTo>
                    <a:pt x="9311" y="2858"/>
                    <a:pt x="9240" y="2775"/>
                    <a:pt x="9156" y="2775"/>
                  </a:cubicBezTo>
                  <a:lnTo>
                    <a:pt x="7168" y="2775"/>
                  </a:lnTo>
                  <a:lnTo>
                    <a:pt x="7168" y="2239"/>
                  </a:lnTo>
                  <a:close/>
                  <a:moveTo>
                    <a:pt x="4787" y="1"/>
                  </a:moveTo>
                  <a:cubicBezTo>
                    <a:pt x="4275" y="1"/>
                    <a:pt x="3858" y="418"/>
                    <a:pt x="3858" y="930"/>
                  </a:cubicBezTo>
                  <a:lnTo>
                    <a:pt x="3858" y="1311"/>
                  </a:lnTo>
                  <a:cubicBezTo>
                    <a:pt x="3858" y="1406"/>
                    <a:pt x="3763" y="1501"/>
                    <a:pt x="3656" y="1501"/>
                  </a:cubicBezTo>
                  <a:lnTo>
                    <a:pt x="3513" y="1501"/>
                  </a:lnTo>
                  <a:cubicBezTo>
                    <a:pt x="3263" y="1501"/>
                    <a:pt x="3048" y="1680"/>
                    <a:pt x="3001" y="1930"/>
                  </a:cubicBezTo>
                  <a:lnTo>
                    <a:pt x="893" y="1930"/>
                  </a:lnTo>
                  <a:cubicBezTo>
                    <a:pt x="405" y="1930"/>
                    <a:pt x="0" y="2335"/>
                    <a:pt x="0" y="2823"/>
                  </a:cubicBezTo>
                  <a:lnTo>
                    <a:pt x="0" y="8633"/>
                  </a:lnTo>
                  <a:cubicBezTo>
                    <a:pt x="0" y="9121"/>
                    <a:pt x="405" y="9526"/>
                    <a:pt x="893" y="9526"/>
                  </a:cubicBezTo>
                  <a:lnTo>
                    <a:pt x="9263" y="9526"/>
                  </a:lnTo>
                  <a:cubicBezTo>
                    <a:pt x="9764" y="9526"/>
                    <a:pt x="10156" y="9121"/>
                    <a:pt x="10156" y="8633"/>
                  </a:cubicBezTo>
                  <a:lnTo>
                    <a:pt x="10156" y="2823"/>
                  </a:lnTo>
                  <a:cubicBezTo>
                    <a:pt x="10168" y="2335"/>
                    <a:pt x="9764" y="1930"/>
                    <a:pt x="9275" y="1930"/>
                  </a:cubicBezTo>
                  <a:lnTo>
                    <a:pt x="7156" y="1930"/>
                  </a:lnTo>
                  <a:cubicBezTo>
                    <a:pt x="7108" y="1692"/>
                    <a:pt x="6906" y="1501"/>
                    <a:pt x="6656" y="1501"/>
                  </a:cubicBezTo>
                  <a:lnTo>
                    <a:pt x="6501" y="1501"/>
                  </a:lnTo>
                  <a:cubicBezTo>
                    <a:pt x="6394" y="1501"/>
                    <a:pt x="6311" y="1406"/>
                    <a:pt x="6311" y="1311"/>
                  </a:cubicBezTo>
                  <a:lnTo>
                    <a:pt x="6311" y="930"/>
                  </a:lnTo>
                  <a:cubicBezTo>
                    <a:pt x="6311" y="418"/>
                    <a:pt x="5894" y="1"/>
                    <a:pt x="53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51" name="Google Shape;9796;p64">
              <a:extLst>
                <a:ext uri="{FF2B5EF4-FFF2-40B4-BE49-F238E27FC236}">
                  <a16:creationId xmlns:a16="http://schemas.microsoft.com/office/drawing/2014/main" id="{2340F56F-E3B2-CEAE-4DCB-CB932EFF7BB5}"/>
                </a:ext>
              </a:extLst>
            </p:cNvPr>
            <p:cNvSpPr/>
            <p:nvPr/>
          </p:nvSpPr>
          <p:spPr>
            <a:xfrm>
              <a:off x="8148997" y="3444247"/>
              <a:ext cx="37907" cy="37938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34"/>
                  </a:moveTo>
                  <a:cubicBezTo>
                    <a:pt x="750" y="334"/>
                    <a:pt x="869" y="453"/>
                    <a:pt x="869" y="596"/>
                  </a:cubicBezTo>
                  <a:cubicBezTo>
                    <a:pt x="869" y="751"/>
                    <a:pt x="750" y="870"/>
                    <a:pt x="595" y="870"/>
                  </a:cubicBezTo>
                  <a:cubicBezTo>
                    <a:pt x="453" y="870"/>
                    <a:pt x="334" y="751"/>
                    <a:pt x="334" y="596"/>
                  </a:cubicBezTo>
                  <a:cubicBezTo>
                    <a:pt x="334" y="453"/>
                    <a:pt x="453" y="334"/>
                    <a:pt x="595" y="334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52" name="Google Shape;9797;p64">
              <a:extLst>
                <a:ext uri="{FF2B5EF4-FFF2-40B4-BE49-F238E27FC236}">
                  <a16:creationId xmlns:a16="http://schemas.microsoft.com/office/drawing/2014/main" id="{648DA2AB-1730-F482-CEC5-452C5C991355}"/>
                </a:ext>
              </a:extLst>
            </p:cNvPr>
            <p:cNvSpPr/>
            <p:nvPr/>
          </p:nvSpPr>
          <p:spPr>
            <a:xfrm>
              <a:off x="8089861" y="3526871"/>
              <a:ext cx="165630" cy="104617"/>
            </a:xfrm>
            <a:custGeom>
              <a:avLst/>
              <a:gdLst/>
              <a:ahLst/>
              <a:cxnLst/>
              <a:rect l="l" t="t" r="r" b="b"/>
              <a:pathLst>
                <a:path w="5204" h="3287" extrusionOk="0">
                  <a:moveTo>
                    <a:pt x="739" y="2024"/>
                  </a:moveTo>
                  <a:cubicBezTo>
                    <a:pt x="1001" y="2024"/>
                    <a:pt x="1215" y="2250"/>
                    <a:pt x="1215" y="2500"/>
                  </a:cubicBezTo>
                  <a:cubicBezTo>
                    <a:pt x="1239" y="2762"/>
                    <a:pt x="1013" y="2977"/>
                    <a:pt x="739" y="2977"/>
                  </a:cubicBezTo>
                  <a:cubicBezTo>
                    <a:pt x="477" y="2977"/>
                    <a:pt x="263" y="2750"/>
                    <a:pt x="263" y="2500"/>
                  </a:cubicBezTo>
                  <a:cubicBezTo>
                    <a:pt x="263" y="2227"/>
                    <a:pt x="489" y="2024"/>
                    <a:pt x="739" y="2024"/>
                  </a:cubicBezTo>
                  <a:close/>
                  <a:moveTo>
                    <a:pt x="4823" y="0"/>
                  </a:moveTo>
                  <a:cubicBezTo>
                    <a:pt x="4823" y="0"/>
                    <a:pt x="4811" y="0"/>
                    <a:pt x="4811" y="12"/>
                  </a:cubicBezTo>
                  <a:lnTo>
                    <a:pt x="4370" y="226"/>
                  </a:lnTo>
                  <a:cubicBezTo>
                    <a:pt x="4299" y="262"/>
                    <a:pt x="4275" y="357"/>
                    <a:pt x="4299" y="429"/>
                  </a:cubicBezTo>
                  <a:cubicBezTo>
                    <a:pt x="4334" y="481"/>
                    <a:pt x="4388" y="514"/>
                    <a:pt x="4447" y="514"/>
                  </a:cubicBezTo>
                  <a:cubicBezTo>
                    <a:pt x="4469" y="514"/>
                    <a:pt x="4491" y="510"/>
                    <a:pt x="4513" y="500"/>
                  </a:cubicBezTo>
                  <a:lnTo>
                    <a:pt x="4632" y="441"/>
                  </a:lnTo>
                  <a:lnTo>
                    <a:pt x="4632" y="441"/>
                  </a:lnTo>
                  <a:cubicBezTo>
                    <a:pt x="4418" y="1143"/>
                    <a:pt x="4049" y="1667"/>
                    <a:pt x="3537" y="1988"/>
                  </a:cubicBezTo>
                  <a:cubicBezTo>
                    <a:pt x="3037" y="2306"/>
                    <a:pt x="2479" y="2385"/>
                    <a:pt x="2070" y="2385"/>
                  </a:cubicBezTo>
                  <a:cubicBezTo>
                    <a:pt x="1866" y="2385"/>
                    <a:pt x="1699" y="2365"/>
                    <a:pt x="1596" y="2346"/>
                  </a:cubicBezTo>
                  <a:cubicBezTo>
                    <a:pt x="1537" y="1977"/>
                    <a:pt x="1191" y="1679"/>
                    <a:pt x="799" y="1679"/>
                  </a:cubicBezTo>
                  <a:cubicBezTo>
                    <a:pt x="358" y="1679"/>
                    <a:pt x="1" y="2036"/>
                    <a:pt x="1" y="2477"/>
                  </a:cubicBezTo>
                  <a:cubicBezTo>
                    <a:pt x="1" y="2929"/>
                    <a:pt x="358" y="3286"/>
                    <a:pt x="799" y="3286"/>
                  </a:cubicBezTo>
                  <a:cubicBezTo>
                    <a:pt x="1180" y="3286"/>
                    <a:pt x="1501" y="3012"/>
                    <a:pt x="1572" y="2679"/>
                  </a:cubicBezTo>
                  <a:cubicBezTo>
                    <a:pt x="1691" y="2691"/>
                    <a:pt x="1858" y="2703"/>
                    <a:pt x="2049" y="2703"/>
                  </a:cubicBezTo>
                  <a:cubicBezTo>
                    <a:pt x="2501" y="2703"/>
                    <a:pt x="3120" y="2619"/>
                    <a:pt x="3692" y="2262"/>
                  </a:cubicBezTo>
                  <a:cubicBezTo>
                    <a:pt x="4251" y="1905"/>
                    <a:pt x="4656" y="1334"/>
                    <a:pt x="4894" y="595"/>
                  </a:cubicBezTo>
                  <a:lnTo>
                    <a:pt x="4930" y="631"/>
                  </a:lnTo>
                  <a:cubicBezTo>
                    <a:pt x="4954" y="691"/>
                    <a:pt x="5013" y="726"/>
                    <a:pt x="5073" y="726"/>
                  </a:cubicBezTo>
                  <a:cubicBezTo>
                    <a:pt x="5109" y="726"/>
                    <a:pt x="5120" y="726"/>
                    <a:pt x="5144" y="714"/>
                  </a:cubicBezTo>
                  <a:cubicBezTo>
                    <a:pt x="5180" y="679"/>
                    <a:pt x="5204" y="584"/>
                    <a:pt x="5180" y="500"/>
                  </a:cubicBezTo>
                  <a:lnTo>
                    <a:pt x="4966" y="72"/>
                  </a:lnTo>
                  <a:cubicBezTo>
                    <a:pt x="4966" y="72"/>
                    <a:pt x="4966" y="60"/>
                    <a:pt x="4954" y="60"/>
                  </a:cubicBezTo>
                  <a:lnTo>
                    <a:pt x="4930" y="24"/>
                  </a:lnTo>
                  <a:lnTo>
                    <a:pt x="4906" y="12"/>
                  </a:lnTo>
                  <a:cubicBezTo>
                    <a:pt x="4906" y="12"/>
                    <a:pt x="4894" y="12"/>
                    <a:pt x="489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53" name="Google Shape;9798;p64">
              <a:extLst>
                <a:ext uri="{FF2B5EF4-FFF2-40B4-BE49-F238E27FC236}">
                  <a16:creationId xmlns:a16="http://schemas.microsoft.com/office/drawing/2014/main" id="{417F1FA1-2901-0366-2470-0FDAB8DCC913}"/>
                </a:ext>
              </a:extLst>
            </p:cNvPr>
            <p:cNvSpPr/>
            <p:nvPr/>
          </p:nvSpPr>
          <p:spPr>
            <a:xfrm>
              <a:off x="8067519" y="3519742"/>
              <a:ext cx="32241" cy="30268"/>
            </a:xfrm>
            <a:custGeom>
              <a:avLst/>
              <a:gdLst/>
              <a:ahLst/>
              <a:cxnLst/>
              <a:rect l="l" t="t" r="r" b="b"/>
              <a:pathLst>
                <a:path w="1013" h="951" extrusionOk="0">
                  <a:moveTo>
                    <a:pt x="173" y="1"/>
                  </a:moveTo>
                  <a:cubicBezTo>
                    <a:pt x="131" y="1"/>
                    <a:pt x="90" y="16"/>
                    <a:pt x="60" y="46"/>
                  </a:cubicBezTo>
                  <a:cubicBezTo>
                    <a:pt x="0" y="105"/>
                    <a:pt x="0" y="212"/>
                    <a:pt x="60" y="272"/>
                  </a:cubicBezTo>
                  <a:lnTo>
                    <a:pt x="274" y="474"/>
                  </a:lnTo>
                  <a:lnTo>
                    <a:pt x="60" y="688"/>
                  </a:lnTo>
                  <a:cubicBezTo>
                    <a:pt x="0" y="748"/>
                    <a:pt x="0" y="843"/>
                    <a:pt x="60" y="903"/>
                  </a:cubicBezTo>
                  <a:cubicBezTo>
                    <a:pt x="96" y="938"/>
                    <a:pt x="131" y="950"/>
                    <a:pt x="179" y="950"/>
                  </a:cubicBezTo>
                  <a:cubicBezTo>
                    <a:pt x="227" y="950"/>
                    <a:pt x="274" y="938"/>
                    <a:pt x="298" y="903"/>
                  </a:cubicBezTo>
                  <a:lnTo>
                    <a:pt x="512" y="700"/>
                  </a:lnTo>
                  <a:lnTo>
                    <a:pt x="715" y="903"/>
                  </a:lnTo>
                  <a:cubicBezTo>
                    <a:pt x="750" y="938"/>
                    <a:pt x="786" y="950"/>
                    <a:pt x="834" y="950"/>
                  </a:cubicBezTo>
                  <a:cubicBezTo>
                    <a:pt x="881" y="950"/>
                    <a:pt x="929" y="938"/>
                    <a:pt x="953" y="903"/>
                  </a:cubicBezTo>
                  <a:cubicBezTo>
                    <a:pt x="1012" y="843"/>
                    <a:pt x="1012" y="748"/>
                    <a:pt x="953" y="688"/>
                  </a:cubicBezTo>
                  <a:lnTo>
                    <a:pt x="715" y="474"/>
                  </a:lnTo>
                  <a:lnTo>
                    <a:pt x="929" y="272"/>
                  </a:lnTo>
                  <a:cubicBezTo>
                    <a:pt x="989" y="212"/>
                    <a:pt x="989" y="105"/>
                    <a:pt x="929" y="46"/>
                  </a:cubicBezTo>
                  <a:cubicBezTo>
                    <a:pt x="899" y="16"/>
                    <a:pt x="858" y="1"/>
                    <a:pt x="816" y="1"/>
                  </a:cubicBezTo>
                  <a:cubicBezTo>
                    <a:pt x="774" y="1"/>
                    <a:pt x="733" y="16"/>
                    <a:pt x="703" y="46"/>
                  </a:cubicBezTo>
                  <a:lnTo>
                    <a:pt x="488" y="248"/>
                  </a:lnTo>
                  <a:lnTo>
                    <a:pt x="286" y="46"/>
                  </a:lnTo>
                  <a:cubicBezTo>
                    <a:pt x="256" y="16"/>
                    <a:pt x="215" y="1"/>
                    <a:pt x="17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54" name="Google Shape;9799;p64">
              <a:extLst>
                <a:ext uri="{FF2B5EF4-FFF2-40B4-BE49-F238E27FC236}">
                  <a16:creationId xmlns:a16="http://schemas.microsoft.com/office/drawing/2014/main" id="{8DE7299F-99BA-5984-2194-62D40FC1F93A}"/>
                </a:ext>
              </a:extLst>
            </p:cNvPr>
            <p:cNvSpPr/>
            <p:nvPr/>
          </p:nvSpPr>
          <p:spPr>
            <a:xfrm>
              <a:off x="8244479" y="3601602"/>
              <a:ext cx="32623" cy="30268"/>
            </a:xfrm>
            <a:custGeom>
              <a:avLst/>
              <a:gdLst/>
              <a:ahLst/>
              <a:cxnLst/>
              <a:rect l="l" t="t" r="r" b="b"/>
              <a:pathLst>
                <a:path w="1025" h="951" extrusionOk="0">
                  <a:moveTo>
                    <a:pt x="179" y="1"/>
                  </a:moveTo>
                  <a:cubicBezTo>
                    <a:pt x="140" y="1"/>
                    <a:pt x="102" y="15"/>
                    <a:pt x="72" y="45"/>
                  </a:cubicBezTo>
                  <a:cubicBezTo>
                    <a:pt x="1" y="105"/>
                    <a:pt x="1" y="212"/>
                    <a:pt x="72" y="271"/>
                  </a:cubicBezTo>
                  <a:lnTo>
                    <a:pt x="274" y="474"/>
                  </a:lnTo>
                  <a:lnTo>
                    <a:pt x="72" y="688"/>
                  </a:lnTo>
                  <a:cubicBezTo>
                    <a:pt x="1" y="748"/>
                    <a:pt x="1" y="855"/>
                    <a:pt x="72" y="914"/>
                  </a:cubicBezTo>
                  <a:cubicBezTo>
                    <a:pt x="96" y="938"/>
                    <a:pt x="143" y="950"/>
                    <a:pt x="179" y="950"/>
                  </a:cubicBezTo>
                  <a:cubicBezTo>
                    <a:pt x="227" y="950"/>
                    <a:pt x="274" y="938"/>
                    <a:pt x="298" y="914"/>
                  </a:cubicBezTo>
                  <a:lnTo>
                    <a:pt x="513" y="700"/>
                  </a:lnTo>
                  <a:lnTo>
                    <a:pt x="727" y="914"/>
                  </a:lnTo>
                  <a:cubicBezTo>
                    <a:pt x="751" y="938"/>
                    <a:pt x="798" y="950"/>
                    <a:pt x="846" y="950"/>
                  </a:cubicBezTo>
                  <a:cubicBezTo>
                    <a:pt x="882" y="950"/>
                    <a:pt x="929" y="938"/>
                    <a:pt x="965" y="914"/>
                  </a:cubicBezTo>
                  <a:cubicBezTo>
                    <a:pt x="1024" y="855"/>
                    <a:pt x="1024" y="748"/>
                    <a:pt x="965" y="688"/>
                  </a:cubicBezTo>
                  <a:lnTo>
                    <a:pt x="727" y="474"/>
                  </a:lnTo>
                  <a:lnTo>
                    <a:pt x="929" y="271"/>
                  </a:lnTo>
                  <a:cubicBezTo>
                    <a:pt x="989" y="212"/>
                    <a:pt x="989" y="105"/>
                    <a:pt x="929" y="45"/>
                  </a:cubicBezTo>
                  <a:cubicBezTo>
                    <a:pt x="899" y="15"/>
                    <a:pt x="858" y="1"/>
                    <a:pt x="816" y="1"/>
                  </a:cubicBezTo>
                  <a:cubicBezTo>
                    <a:pt x="774" y="1"/>
                    <a:pt x="733" y="15"/>
                    <a:pt x="703" y="45"/>
                  </a:cubicBezTo>
                  <a:lnTo>
                    <a:pt x="501" y="260"/>
                  </a:lnTo>
                  <a:lnTo>
                    <a:pt x="286" y="45"/>
                  </a:lnTo>
                  <a:cubicBezTo>
                    <a:pt x="257" y="15"/>
                    <a:pt x="218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55" name="Google Shape;9800;p64">
              <a:extLst>
                <a:ext uri="{FF2B5EF4-FFF2-40B4-BE49-F238E27FC236}">
                  <a16:creationId xmlns:a16="http://schemas.microsoft.com/office/drawing/2014/main" id="{E347BA2C-4D5B-0848-34D8-DD7CCEC2FEEE}"/>
                </a:ext>
              </a:extLst>
            </p:cNvPr>
            <p:cNvSpPr/>
            <p:nvPr/>
          </p:nvSpPr>
          <p:spPr>
            <a:xfrm>
              <a:off x="8156190" y="3533396"/>
              <a:ext cx="32241" cy="30236"/>
            </a:xfrm>
            <a:custGeom>
              <a:avLst/>
              <a:gdLst/>
              <a:ahLst/>
              <a:cxnLst/>
              <a:rect l="l" t="t" r="r" b="b"/>
              <a:pathLst>
                <a:path w="1013" h="950" extrusionOk="0">
                  <a:moveTo>
                    <a:pt x="167" y="0"/>
                  </a:moveTo>
                  <a:cubicBezTo>
                    <a:pt x="128" y="0"/>
                    <a:pt x="90" y="15"/>
                    <a:pt x="60" y="45"/>
                  </a:cubicBezTo>
                  <a:cubicBezTo>
                    <a:pt x="0" y="105"/>
                    <a:pt x="0" y="212"/>
                    <a:pt x="60" y="271"/>
                  </a:cubicBezTo>
                  <a:lnTo>
                    <a:pt x="262" y="474"/>
                  </a:lnTo>
                  <a:lnTo>
                    <a:pt x="60" y="688"/>
                  </a:lnTo>
                  <a:cubicBezTo>
                    <a:pt x="0" y="748"/>
                    <a:pt x="0" y="855"/>
                    <a:pt x="60" y="914"/>
                  </a:cubicBezTo>
                  <a:cubicBezTo>
                    <a:pt x="84" y="938"/>
                    <a:pt x="131" y="950"/>
                    <a:pt x="179" y="950"/>
                  </a:cubicBezTo>
                  <a:cubicBezTo>
                    <a:pt x="215" y="950"/>
                    <a:pt x="262" y="938"/>
                    <a:pt x="298" y="914"/>
                  </a:cubicBezTo>
                  <a:lnTo>
                    <a:pt x="500" y="700"/>
                  </a:lnTo>
                  <a:lnTo>
                    <a:pt x="715" y="914"/>
                  </a:lnTo>
                  <a:cubicBezTo>
                    <a:pt x="739" y="938"/>
                    <a:pt x="786" y="950"/>
                    <a:pt x="834" y="950"/>
                  </a:cubicBezTo>
                  <a:cubicBezTo>
                    <a:pt x="870" y="950"/>
                    <a:pt x="917" y="938"/>
                    <a:pt x="953" y="914"/>
                  </a:cubicBezTo>
                  <a:cubicBezTo>
                    <a:pt x="1012" y="855"/>
                    <a:pt x="1012" y="748"/>
                    <a:pt x="953" y="688"/>
                  </a:cubicBezTo>
                  <a:lnTo>
                    <a:pt x="715" y="474"/>
                  </a:lnTo>
                  <a:lnTo>
                    <a:pt x="917" y="271"/>
                  </a:lnTo>
                  <a:cubicBezTo>
                    <a:pt x="977" y="212"/>
                    <a:pt x="977" y="105"/>
                    <a:pt x="917" y="45"/>
                  </a:cubicBezTo>
                  <a:cubicBezTo>
                    <a:pt x="887" y="15"/>
                    <a:pt x="849" y="0"/>
                    <a:pt x="810" y="0"/>
                  </a:cubicBezTo>
                  <a:cubicBezTo>
                    <a:pt x="771" y="0"/>
                    <a:pt x="733" y="15"/>
                    <a:pt x="703" y="45"/>
                  </a:cubicBezTo>
                  <a:lnTo>
                    <a:pt x="489" y="259"/>
                  </a:lnTo>
                  <a:lnTo>
                    <a:pt x="274" y="45"/>
                  </a:lnTo>
                  <a:cubicBezTo>
                    <a:pt x="244" y="15"/>
                    <a:pt x="206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154F012B-28C4-FBBB-293E-8200C347CA36}"/>
              </a:ext>
            </a:extLst>
          </p:cNvPr>
          <p:cNvSpPr/>
          <p:nvPr/>
        </p:nvSpPr>
        <p:spPr>
          <a:xfrm>
            <a:off x="15500306" y="4087442"/>
            <a:ext cx="2392397" cy="2658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r>
              <a:rPr lang="en-IN" b="1" dirty="0"/>
              <a:t>AI - Based Anomaly Detection</a:t>
            </a:r>
          </a:p>
          <a:p>
            <a:r>
              <a:rPr lang="en-IN" dirty="0"/>
              <a:t>Identity match</a:t>
            </a:r>
          </a:p>
          <a:p>
            <a:r>
              <a:rPr lang="en-IN" dirty="0"/>
              <a:t>Evidence intelligence</a:t>
            </a:r>
          </a:p>
          <a:p>
            <a:r>
              <a:rPr lang="en-IN" dirty="0"/>
              <a:t>Outcome classification</a:t>
            </a:r>
          </a:p>
          <a:p>
            <a:r>
              <a:rPr lang="en-IN" dirty="0"/>
              <a:t>Skill/role relevance</a:t>
            </a:r>
          </a:p>
          <a:p>
            <a:r>
              <a:rPr lang="en-IN" dirty="0"/>
              <a:t>Anomaly detection</a:t>
            </a:r>
          </a:p>
          <a:p>
            <a:r>
              <a:rPr lang="en-IN" dirty="0"/>
              <a:t>Temporal consistency</a:t>
            </a:r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endParaRPr lang="en-IN" b="1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834379-6A94-B3F5-28EC-D80DFF0CE986}"/>
              </a:ext>
            </a:extLst>
          </p:cNvPr>
          <p:cNvSpPr/>
          <p:nvPr/>
        </p:nvSpPr>
        <p:spPr>
          <a:xfrm>
            <a:off x="12700867" y="4087442"/>
            <a:ext cx="2392397" cy="2658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r>
              <a:rPr lang="en-IN" b="1" dirty="0"/>
              <a:t>Verification and  Confidence Scoring</a:t>
            </a:r>
          </a:p>
          <a:p>
            <a:r>
              <a:rPr lang="en-IN" dirty="0"/>
              <a:t>Source identity</a:t>
            </a:r>
          </a:p>
          <a:p>
            <a:r>
              <a:rPr lang="en-IN" dirty="0"/>
              <a:t>Evidence corroboration</a:t>
            </a:r>
          </a:p>
          <a:p>
            <a:r>
              <a:rPr lang="en-IN" dirty="0"/>
              <a:t>Verification rules</a:t>
            </a:r>
          </a:p>
          <a:p>
            <a:r>
              <a:rPr lang="en-IN" dirty="0"/>
              <a:t>Confidence score</a:t>
            </a:r>
          </a:p>
          <a:p>
            <a:r>
              <a:rPr lang="en-IN" dirty="0"/>
              <a:t>Integrity/Signature</a:t>
            </a:r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endParaRPr lang="en-IN" b="1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0D00891-28E0-EB6B-767C-DEF043FB106C}"/>
              </a:ext>
            </a:extLst>
          </p:cNvPr>
          <p:cNvSpPr/>
          <p:nvPr/>
        </p:nvSpPr>
        <p:spPr>
          <a:xfrm>
            <a:off x="8715894" y="4101508"/>
            <a:ext cx="3624351" cy="26583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700" b="1" dirty="0"/>
              <a:t>Programme/Policy Actions</a:t>
            </a:r>
          </a:p>
          <a:p>
            <a:r>
              <a:rPr lang="en-IN" sz="2100" dirty="0"/>
              <a:t>Provider improvement</a:t>
            </a:r>
          </a:p>
          <a:p>
            <a:pPr>
              <a:lnSpc>
                <a:spcPct val="150000"/>
              </a:lnSpc>
            </a:pPr>
            <a:r>
              <a:rPr lang="en-IN" sz="2100" dirty="0"/>
              <a:t>Skill Gap interventions</a:t>
            </a:r>
          </a:p>
          <a:p>
            <a:pPr>
              <a:lnSpc>
                <a:spcPct val="150000"/>
              </a:lnSpc>
            </a:pPr>
            <a:r>
              <a:rPr lang="en-IN" sz="2100" dirty="0"/>
              <a:t>Training adjustments</a:t>
            </a:r>
          </a:p>
          <a:p>
            <a:pPr>
              <a:lnSpc>
                <a:spcPct val="150000"/>
              </a:lnSpc>
            </a:pPr>
            <a:r>
              <a:rPr lang="en-IN" sz="2100" dirty="0"/>
              <a:t>Funding recommendations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BAA1584-C948-CE07-65E0-65F1EC7A8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6693" y="4195080"/>
            <a:ext cx="646314" cy="626805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90BF0F7C-15F9-B08D-19CB-60CC84576142}"/>
              </a:ext>
            </a:extLst>
          </p:cNvPr>
          <p:cNvSpPr/>
          <p:nvPr/>
        </p:nvSpPr>
        <p:spPr>
          <a:xfrm>
            <a:off x="5344590" y="4079366"/>
            <a:ext cx="3010683" cy="3652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700" b="1" dirty="0"/>
              <a:t>Outcome Analysis</a:t>
            </a:r>
          </a:p>
          <a:p>
            <a:endParaRPr lang="en-IN" sz="2700" b="1" dirty="0"/>
          </a:p>
          <a:p>
            <a:endParaRPr lang="en-IN" sz="2700" b="1" dirty="0"/>
          </a:p>
          <a:p>
            <a:r>
              <a:rPr lang="en-IN" sz="1650" dirty="0"/>
              <a:t>     Provider</a:t>
            </a:r>
          </a:p>
          <a:p>
            <a:r>
              <a:rPr lang="en-IN" sz="1650" dirty="0"/>
              <a:t>Performance</a:t>
            </a:r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  <a:p>
            <a:endParaRPr lang="en-IN" sz="2700" b="1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A8C2E92-3F67-E048-E710-DE510A131F5D}"/>
              </a:ext>
            </a:extLst>
          </p:cNvPr>
          <p:cNvSpPr/>
          <p:nvPr/>
        </p:nvSpPr>
        <p:spPr>
          <a:xfrm>
            <a:off x="5463466" y="4643579"/>
            <a:ext cx="1265948" cy="14214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5BA1ABE-62FA-93CE-20CF-CA4F2C360A8F}"/>
              </a:ext>
            </a:extLst>
          </p:cNvPr>
          <p:cNvSpPr/>
          <p:nvPr/>
        </p:nvSpPr>
        <p:spPr>
          <a:xfrm>
            <a:off x="6891151" y="4643579"/>
            <a:ext cx="1265948" cy="14214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5D4E4C9-9D2F-2E20-72E9-8C350F501143}"/>
              </a:ext>
            </a:extLst>
          </p:cNvPr>
          <p:cNvSpPr/>
          <p:nvPr/>
        </p:nvSpPr>
        <p:spPr>
          <a:xfrm>
            <a:off x="5483392" y="6228735"/>
            <a:ext cx="1265948" cy="14214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535C054-1EED-DE9D-EB8B-59C803C55B71}"/>
              </a:ext>
            </a:extLst>
          </p:cNvPr>
          <p:cNvSpPr/>
          <p:nvPr/>
        </p:nvSpPr>
        <p:spPr>
          <a:xfrm>
            <a:off x="6912581" y="6228735"/>
            <a:ext cx="1265948" cy="14214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38FD36-DD1C-E32B-16C6-3C5D318C5A43}"/>
              </a:ext>
            </a:extLst>
          </p:cNvPr>
          <p:cNvSpPr txBox="1"/>
          <p:nvPr/>
        </p:nvSpPr>
        <p:spPr>
          <a:xfrm>
            <a:off x="6834723" y="5354312"/>
            <a:ext cx="163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Skill Gap Intervention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1F9242-EB41-684E-EF5D-83867A42A621}"/>
              </a:ext>
            </a:extLst>
          </p:cNvPr>
          <p:cNvSpPr txBox="1"/>
          <p:nvPr/>
        </p:nvSpPr>
        <p:spPr>
          <a:xfrm>
            <a:off x="6888140" y="6930455"/>
            <a:ext cx="163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Attrition Patterns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6A7FA0-BD86-5D7D-18C1-B1FF9A309815}"/>
              </a:ext>
            </a:extLst>
          </p:cNvPr>
          <p:cNvSpPr txBox="1"/>
          <p:nvPr/>
        </p:nvSpPr>
        <p:spPr>
          <a:xfrm>
            <a:off x="5483486" y="6957704"/>
            <a:ext cx="163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Economic Analysis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0F30BF13-5245-E653-1CAF-51FDA6ADE0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4411" y="4697818"/>
            <a:ext cx="803543" cy="77762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6C0BFD9-B128-715F-7F8B-CFA82B5CFC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601" y="4678870"/>
            <a:ext cx="792458" cy="806609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F2AD3ED-A2BA-AE71-0A66-3BE702124F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5772" y="6273867"/>
            <a:ext cx="683445" cy="71078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0A14D246-2DD0-FC62-DBB2-6A44D5E650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8357" y="6296880"/>
            <a:ext cx="589500" cy="664755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4B32E670-9A62-9CC5-2F88-7D760349916B}"/>
              </a:ext>
            </a:extLst>
          </p:cNvPr>
          <p:cNvSpPr/>
          <p:nvPr/>
        </p:nvSpPr>
        <p:spPr>
          <a:xfrm>
            <a:off x="286990" y="4061129"/>
            <a:ext cx="4565705" cy="2896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DABE13-BFBF-BEB4-EF63-1D0ECC5C390A}"/>
              </a:ext>
            </a:extLst>
          </p:cNvPr>
          <p:cNvSpPr txBox="1"/>
          <p:nvPr/>
        </p:nvSpPr>
        <p:spPr>
          <a:xfrm>
            <a:off x="348099" y="4202908"/>
            <a:ext cx="4682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Longitudinal outcome Timeline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1B3335FC-51B9-3D57-43B8-883A445C43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6014" y="4629938"/>
            <a:ext cx="837861" cy="85382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691BE3F5-6FFF-95E3-D0FD-66C88F6D1DC6}"/>
              </a:ext>
            </a:extLst>
          </p:cNvPr>
          <p:cNvSpPr txBox="1"/>
          <p:nvPr/>
        </p:nvSpPr>
        <p:spPr>
          <a:xfrm>
            <a:off x="173468" y="5371464"/>
            <a:ext cx="48829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b="1" dirty="0"/>
              <a:t>3M        6M	     12M       24M</a:t>
            </a:r>
          </a:p>
        </p:txBody>
      </p:sp>
      <p:grpSp>
        <p:nvGrpSpPr>
          <p:cNvPr id="78" name="Google Shape;7010;p58">
            <a:extLst>
              <a:ext uri="{FF2B5EF4-FFF2-40B4-BE49-F238E27FC236}">
                <a16:creationId xmlns:a16="http://schemas.microsoft.com/office/drawing/2014/main" id="{9AFDA87F-DFC8-7948-DCB5-918AE4E0C286}"/>
              </a:ext>
            </a:extLst>
          </p:cNvPr>
          <p:cNvGrpSpPr/>
          <p:nvPr/>
        </p:nvGrpSpPr>
        <p:grpSpPr>
          <a:xfrm>
            <a:off x="740563" y="5789379"/>
            <a:ext cx="3814214" cy="235281"/>
            <a:chOff x="1464850" y="436376"/>
            <a:chExt cx="4589297" cy="222300"/>
          </a:xfrm>
        </p:grpSpPr>
        <p:sp>
          <p:nvSpPr>
            <p:cNvPr id="79" name="Google Shape;7011;p58">
              <a:extLst>
                <a:ext uri="{FF2B5EF4-FFF2-40B4-BE49-F238E27FC236}">
                  <a16:creationId xmlns:a16="http://schemas.microsoft.com/office/drawing/2014/main" id="{633EEB1E-8BFA-0C6A-C09C-8283A051ED79}"/>
                </a:ext>
              </a:extLst>
            </p:cNvPr>
            <p:cNvSpPr/>
            <p:nvPr/>
          </p:nvSpPr>
          <p:spPr>
            <a:xfrm>
              <a:off x="1464850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80" name="Google Shape;7012;p58">
              <a:extLst>
                <a:ext uri="{FF2B5EF4-FFF2-40B4-BE49-F238E27FC236}">
                  <a16:creationId xmlns:a16="http://schemas.microsoft.com/office/drawing/2014/main" id="{73EFF63B-FCFE-A242-692A-1E2D2F58EBC3}"/>
                </a:ext>
              </a:extLst>
            </p:cNvPr>
            <p:cNvSpPr/>
            <p:nvPr/>
          </p:nvSpPr>
          <p:spPr>
            <a:xfrm>
              <a:off x="4410215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81" name="Google Shape;7014;p58">
              <a:extLst>
                <a:ext uri="{FF2B5EF4-FFF2-40B4-BE49-F238E27FC236}">
                  <a16:creationId xmlns:a16="http://schemas.microsoft.com/office/drawing/2014/main" id="{8541D68F-D6DE-571D-7F87-FF68490EC358}"/>
                </a:ext>
              </a:extLst>
            </p:cNvPr>
            <p:cNvSpPr/>
            <p:nvPr/>
          </p:nvSpPr>
          <p:spPr>
            <a:xfrm>
              <a:off x="2920366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sp>
          <p:nvSpPr>
            <p:cNvPr id="82" name="Google Shape;7015;p58">
              <a:extLst>
                <a:ext uri="{FF2B5EF4-FFF2-40B4-BE49-F238E27FC236}">
                  <a16:creationId xmlns:a16="http://schemas.microsoft.com/office/drawing/2014/main" id="{F1717DDF-EAC8-7A76-CAA1-58663D3925E9}"/>
                </a:ext>
              </a:extLst>
            </p:cNvPr>
            <p:cNvSpPr/>
            <p:nvPr/>
          </p:nvSpPr>
          <p:spPr>
            <a:xfrm>
              <a:off x="5831847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05707" tIns="205707" rIns="205707" bIns="205707" anchor="ctr" anchorCtr="0">
              <a:noAutofit/>
            </a:bodyPr>
            <a:lstStyle/>
            <a:p>
              <a:endParaRPr sz="4050"/>
            </a:p>
          </p:txBody>
        </p:sp>
        <p:cxnSp>
          <p:nvCxnSpPr>
            <p:cNvPr id="83" name="Google Shape;7016;p58">
              <a:extLst>
                <a:ext uri="{FF2B5EF4-FFF2-40B4-BE49-F238E27FC236}">
                  <a16:creationId xmlns:a16="http://schemas.microsoft.com/office/drawing/2014/main" id="{B41CD2EC-F7C7-2DA8-E84B-CCCF9FF41901}"/>
                </a:ext>
              </a:extLst>
            </p:cNvPr>
            <p:cNvCxnSpPr/>
            <p:nvPr/>
          </p:nvCxnSpPr>
          <p:spPr>
            <a:xfrm>
              <a:off x="1798637" y="547513"/>
              <a:ext cx="988200" cy="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7017;p58">
              <a:extLst>
                <a:ext uri="{FF2B5EF4-FFF2-40B4-BE49-F238E27FC236}">
                  <a16:creationId xmlns:a16="http://schemas.microsoft.com/office/drawing/2014/main" id="{B701D124-A1C8-347B-E974-6FE48BDB716C}"/>
                </a:ext>
              </a:extLst>
            </p:cNvPr>
            <p:cNvCxnSpPr/>
            <p:nvPr/>
          </p:nvCxnSpPr>
          <p:spPr>
            <a:xfrm>
              <a:off x="3276248" y="547513"/>
              <a:ext cx="988200" cy="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7018;p58">
              <a:extLst>
                <a:ext uri="{FF2B5EF4-FFF2-40B4-BE49-F238E27FC236}">
                  <a16:creationId xmlns:a16="http://schemas.microsoft.com/office/drawing/2014/main" id="{DB921060-2A43-EE43-CFBC-CC52448C372E}"/>
                </a:ext>
              </a:extLst>
            </p:cNvPr>
            <p:cNvCxnSpPr/>
            <p:nvPr/>
          </p:nvCxnSpPr>
          <p:spPr>
            <a:xfrm>
              <a:off x="4753898" y="547513"/>
              <a:ext cx="988200" cy="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51ACB6C3-B985-B40D-797D-81D598C916A1}"/>
              </a:ext>
            </a:extLst>
          </p:cNvPr>
          <p:cNvSpPr txBox="1"/>
          <p:nvPr/>
        </p:nvSpPr>
        <p:spPr>
          <a:xfrm>
            <a:off x="260297" y="6212930"/>
            <a:ext cx="13586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50" dirty="0" err="1"/>
              <a:t>Employmenttransitions</a:t>
            </a:r>
            <a:endParaRPr lang="en-IN" sz="165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B19908-850B-482C-A56A-6783121C1115}"/>
              </a:ext>
            </a:extLst>
          </p:cNvPr>
          <p:cNvSpPr txBox="1"/>
          <p:nvPr/>
        </p:nvSpPr>
        <p:spPr>
          <a:xfrm>
            <a:off x="1309310" y="6223364"/>
            <a:ext cx="15042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50" dirty="0"/>
              <a:t>Wage </a:t>
            </a:r>
          </a:p>
          <a:p>
            <a:pPr algn="ctr"/>
            <a:r>
              <a:rPr lang="en-IN" sz="1650" dirty="0"/>
              <a:t>progression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689A081-9448-E680-8BB3-BA20E43963F5}"/>
              </a:ext>
            </a:extLst>
          </p:cNvPr>
          <p:cNvSpPr txBox="1"/>
          <p:nvPr/>
        </p:nvSpPr>
        <p:spPr>
          <a:xfrm>
            <a:off x="1989973" y="6273423"/>
            <a:ext cx="20742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50" dirty="0"/>
              <a:t>Skill/Role</a:t>
            </a:r>
          </a:p>
          <a:p>
            <a:pPr algn="ctr"/>
            <a:r>
              <a:rPr lang="en-IN" sz="1650" dirty="0"/>
              <a:t> relevance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B28FF5D-10E5-5095-D495-DAA447CEB9F6}"/>
              </a:ext>
            </a:extLst>
          </p:cNvPr>
          <p:cNvSpPr txBox="1"/>
          <p:nvPr/>
        </p:nvSpPr>
        <p:spPr>
          <a:xfrm>
            <a:off x="3217600" y="6190764"/>
            <a:ext cx="1857875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50" dirty="0"/>
              <a:t>Unknown/</a:t>
            </a:r>
          </a:p>
          <a:p>
            <a:pPr algn="ctr"/>
            <a:r>
              <a:rPr lang="en-IN" sz="1650" dirty="0"/>
              <a:t>Unemployment states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E1E8DB1-17CC-FFE1-8124-E37C3379C5F4}"/>
              </a:ext>
            </a:extLst>
          </p:cNvPr>
          <p:cNvSpPr/>
          <p:nvPr/>
        </p:nvSpPr>
        <p:spPr>
          <a:xfrm>
            <a:off x="373834" y="7237259"/>
            <a:ext cx="4565705" cy="2896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C37EAF8-9558-1962-1960-5C857AC095C8}"/>
              </a:ext>
            </a:extLst>
          </p:cNvPr>
          <p:cNvSpPr txBox="1"/>
          <p:nvPr/>
        </p:nvSpPr>
        <p:spPr>
          <a:xfrm>
            <a:off x="336847" y="6944762"/>
            <a:ext cx="464446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50" dirty="0"/>
              <a:t> </a:t>
            </a:r>
            <a:r>
              <a:rPr lang="en-IN" sz="2400" b="1" dirty="0"/>
              <a:t>Outcome Event Ledger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6ACA0F-9790-EC37-601F-9B2F9C5E6E0E}"/>
              </a:ext>
            </a:extLst>
          </p:cNvPr>
          <p:cNvSpPr txBox="1"/>
          <p:nvPr/>
        </p:nvSpPr>
        <p:spPr>
          <a:xfrm>
            <a:off x="-256893" y="7446504"/>
            <a:ext cx="60736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dirty="0"/>
              <a:t>Tracks longitudinal livelihood events</a:t>
            </a:r>
            <a:endParaRPr lang="en-IN" sz="2100" b="1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3A581E2-6F57-F6C3-B424-F9FD4532E3EB}"/>
              </a:ext>
            </a:extLst>
          </p:cNvPr>
          <p:cNvSpPr/>
          <p:nvPr/>
        </p:nvSpPr>
        <p:spPr>
          <a:xfrm>
            <a:off x="8715894" y="7027674"/>
            <a:ext cx="3624351" cy="5952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700" b="1" dirty="0"/>
              <a:t>Next Training Cohort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71F9380-5031-CA85-4FA9-0F03F33F65E1}"/>
              </a:ext>
            </a:extLst>
          </p:cNvPr>
          <p:cNvSpPr/>
          <p:nvPr/>
        </p:nvSpPr>
        <p:spPr>
          <a:xfrm>
            <a:off x="12700866" y="7052949"/>
            <a:ext cx="3624351" cy="5952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700" b="1" dirty="0"/>
              <a:t>Continuous Feedback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7FAAAD6-EFB0-7389-E2DD-464C05DFC285}"/>
              </a:ext>
            </a:extLst>
          </p:cNvPr>
          <p:cNvSpPr/>
          <p:nvPr/>
        </p:nvSpPr>
        <p:spPr>
          <a:xfrm>
            <a:off x="6454725" y="7930124"/>
            <a:ext cx="11459442" cy="2131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362A007-C85C-BDA4-26C9-4EA0E97A5B35}"/>
              </a:ext>
            </a:extLst>
          </p:cNvPr>
          <p:cNvSpPr txBox="1"/>
          <p:nvPr/>
        </p:nvSpPr>
        <p:spPr>
          <a:xfrm>
            <a:off x="9819362" y="7888070"/>
            <a:ext cx="50417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000" b="1" dirty="0"/>
              <a:t>Multi anchor identity recovery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CC5A729-E856-C110-BBA2-B66AB8EEA15E}"/>
              </a:ext>
            </a:extLst>
          </p:cNvPr>
          <p:cNvSpPr txBox="1"/>
          <p:nvPr/>
        </p:nvSpPr>
        <p:spPr>
          <a:xfrm>
            <a:off x="6554120" y="9414992"/>
            <a:ext cx="12570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50" dirty="0"/>
              <a:t>Verified </a:t>
            </a:r>
          </a:p>
          <a:p>
            <a:pPr algn="ctr"/>
            <a:r>
              <a:rPr lang="en-IN" sz="1650" dirty="0"/>
              <a:t>E-mail check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2263B42-0C81-70F7-0B4C-07E28790B21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22" y="7776657"/>
            <a:ext cx="3600953" cy="2313764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221E942A-21EA-2629-A665-DB63A6975420}"/>
              </a:ext>
            </a:extLst>
          </p:cNvPr>
          <p:cNvSpPr txBox="1"/>
          <p:nvPr/>
        </p:nvSpPr>
        <p:spPr>
          <a:xfrm>
            <a:off x="8664148" y="9366311"/>
            <a:ext cx="1416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Training</a:t>
            </a:r>
          </a:p>
          <a:p>
            <a:pPr algn="ctr"/>
            <a:r>
              <a:rPr lang="en-IN" dirty="0"/>
              <a:t>Record verify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D3E2F7B-2DC5-EF8D-2F1F-D7CC33C6478D}"/>
              </a:ext>
            </a:extLst>
          </p:cNvPr>
          <p:cNvSpPr txBox="1"/>
          <p:nvPr/>
        </p:nvSpPr>
        <p:spPr>
          <a:xfrm>
            <a:off x="11033202" y="9375497"/>
            <a:ext cx="1987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Digi Locker / e-KYC </a:t>
            </a:r>
          </a:p>
          <a:p>
            <a:pPr algn="ctr"/>
            <a:r>
              <a:rPr lang="en-IN" dirty="0"/>
              <a:t>verification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6BD786F-BB99-397A-34B7-03DC3C3C46BC}"/>
              </a:ext>
            </a:extLst>
          </p:cNvPr>
          <p:cNvSpPr txBox="1"/>
          <p:nvPr/>
        </p:nvSpPr>
        <p:spPr>
          <a:xfrm>
            <a:off x="13610640" y="9373040"/>
            <a:ext cx="1996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Additional anchors </a:t>
            </a:r>
          </a:p>
          <a:p>
            <a:pPr algn="ctr"/>
            <a:r>
              <a:rPr lang="en-IN" dirty="0"/>
              <a:t>Cross verify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C785861-2250-C411-5EB9-C99FD3EB57DD}"/>
              </a:ext>
            </a:extLst>
          </p:cNvPr>
          <p:cNvSpPr txBox="1"/>
          <p:nvPr/>
        </p:nvSpPr>
        <p:spPr>
          <a:xfrm>
            <a:off x="15733642" y="9337297"/>
            <a:ext cx="2189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Identity recovered</a:t>
            </a:r>
          </a:p>
          <a:p>
            <a:pPr algn="ctr"/>
            <a:r>
              <a:rPr lang="en-IN" dirty="0"/>
              <a:t>Update active anchor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B8C394DA-753F-42F9-F1A9-DD22EC66A4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224243" y="8366693"/>
            <a:ext cx="1192878" cy="1033202"/>
          </a:xfrm>
          <a:prstGeom prst="rect">
            <a:avLst/>
          </a:prstGeom>
        </p:spPr>
      </p:pic>
      <p:pic>
        <p:nvPicPr>
          <p:cNvPr id="114" name="Picture 113" descr="22,400+ Cross Check Icon Stock Illustrations, Royalty-Free Vector Graphics &amp; Clip Art - iStock">
            <a:extLst>
              <a:ext uri="{FF2B5EF4-FFF2-40B4-BE49-F238E27FC236}">
                <a16:creationId xmlns:a16="http://schemas.microsoft.com/office/drawing/2014/main" id="{C961211E-2448-C7F5-38AD-D2EB8D04EAA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52597" t="12035" r="28649" b="55340"/>
          <a:stretch>
            <a:fillRect/>
          </a:stretch>
        </p:blipFill>
        <p:spPr>
          <a:xfrm>
            <a:off x="14099627" y="8426891"/>
            <a:ext cx="954662" cy="939420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FD5D4D52-EA89-8589-E1A7-2FBC22FC6E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09847" y="8423345"/>
            <a:ext cx="1022093" cy="1048301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90508563-9D32-84C5-9BBD-3EFB68A99C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33406" y="8366693"/>
            <a:ext cx="1065116" cy="1048299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0E2FC5CE-2718-5DFE-12AB-9303A47059E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68718" y="8450370"/>
            <a:ext cx="1167536" cy="1048299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92BD948-EA94-C00C-AF4D-CC6BFFA6996C}"/>
              </a:ext>
            </a:extLst>
          </p:cNvPr>
          <p:cNvCxnSpPr>
            <a:cxnSpLocks/>
          </p:cNvCxnSpPr>
          <p:nvPr/>
        </p:nvCxnSpPr>
        <p:spPr>
          <a:xfrm>
            <a:off x="3474125" y="2132304"/>
            <a:ext cx="370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7EC5C04-1CCA-BB09-9A42-6E818D1949D1}"/>
              </a:ext>
            </a:extLst>
          </p:cNvPr>
          <p:cNvCxnSpPr>
            <a:cxnSpLocks/>
          </p:cNvCxnSpPr>
          <p:nvPr/>
        </p:nvCxnSpPr>
        <p:spPr>
          <a:xfrm>
            <a:off x="7082444" y="2190911"/>
            <a:ext cx="370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746C893-F9C9-22F3-ECA8-8683D74EF5A5}"/>
              </a:ext>
            </a:extLst>
          </p:cNvPr>
          <p:cNvCxnSpPr>
            <a:cxnSpLocks/>
          </p:cNvCxnSpPr>
          <p:nvPr/>
        </p:nvCxnSpPr>
        <p:spPr>
          <a:xfrm>
            <a:off x="10675693" y="2178441"/>
            <a:ext cx="370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33E96C6-9682-22F5-4DF8-DBB7A33AF273}"/>
              </a:ext>
            </a:extLst>
          </p:cNvPr>
          <p:cNvCxnSpPr>
            <a:cxnSpLocks/>
          </p:cNvCxnSpPr>
          <p:nvPr/>
        </p:nvCxnSpPr>
        <p:spPr>
          <a:xfrm>
            <a:off x="14179240" y="2211603"/>
            <a:ext cx="370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EDAC86F-4A8D-B39D-CE9B-C3634755EF8F}"/>
              </a:ext>
            </a:extLst>
          </p:cNvPr>
          <p:cNvCxnSpPr>
            <a:endCxn id="56" idx="0"/>
          </p:cNvCxnSpPr>
          <p:nvPr/>
        </p:nvCxnSpPr>
        <p:spPr>
          <a:xfrm>
            <a:off x="16696504" y="3715015"/>
            <a:ext cx="2" cy="37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5249909-9BB1-1513-1F8F-9E6EBFF065DB}"/>
              </a:ext>
            </a:extLst>
          </p:cNvPr>
          <p:cNvCxnSpPr>
            <a:stCxn id="56" idx="1"/>
            <a:endCxn id="57" idx="3"/>
          </p:cNvCxnSpPr>
          <p:nvPr/>
        </p:nvCxnSpPr>
        <p:spPr>
          <a:xfrm flipH="1">
            <a:off x="15093263" y="5416610"/>
            <a:ext cx="407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31653212-2E17-97C0-2456-E31B12AB866E}"/>
              </a:ext>
            </a:extLst>
          </p:cNvPr>
          <p:cNvCxnSpPr/>
          <p:nvPr/>
        </p:nvCxnSpPr>
        <p:spPr>
          <a:xfrm flipH="1">
            <a:off x="12294858" y="5351024"/>
            <a:ext cx="407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3457D421-4D94-885F-3136-2731744941BB}"/>
              </a:ext>
            </a:extLst>
          </p:cNvPr>
          <p:cNvCxnSpPr/>
          <p:nvPr/>
        </p:nvCxnSpPr>
        <p:spPr>
          <a:xfrm flipH="1">
            <a:off x="8355273" y="5475440"/>
            <a:ext cx="407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2772389-1B20-D111-9E4A-249F72B5C538}"/>
              </a:ext>
            </a:extLst>
          </p:cNvPr>
          <p:cNvCxnSpPr>
            <a:cxnSpLocks/>
          </p:cNvCxnSpPr>
          <p:nvPr/>
        </p:nvCxnSpPr>
        <p:spPr>
          <a:xfrm flipH="1">
            <a:off x="4852694" y="5627054"/>
            <a:ext cx="493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00C5728-1DF8-EB63-69CA-7F99CB28FDBA}"/>
              </a:ext>
            </a:extLst>
          </p:cNvPr>
          <p:cNvCxnSpPr/>
          <p:nvPr/>
        </p:nvCxnSpPr>
        <p:spPr>
          <a:xfrm>
            <a:off x="2569840" y="6919208"/>
            <a:ext cx="2" cy="37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31641940-9263-F8A6-DD4C-8637A2C44F4C}"/>
              </a:ext>
            </a:extLst>
          </p:cNvPr>
          <p:cNvCxnSpPr>
            <a:stCxn id="98" idx="0"/>
            <a:endCxn id="58" idx="2"/>
          </p:cNvCxnSpPr>
          <p:nvPr/>
        </p:nvCxnSpPr>
        <p:spPr>
          <a:xfrm flipV="1">
            <a:off x="10528070" y="6759842"/>
            <a:ext cx="0" cy="267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C196C99-8087-EF9B-798C-80C7F69CE5DF}"/>
              </a:ext>
            </a:extLst>
          </p:cNvPr>
          <p:cNvCxnSpPr>
            <a:cxnSpLocks/>
          </p:cNvCxnSpPr>
          <p:nvPr/>
        </p:nvCxnSpPr>
        <p:spPr>
          <a:xfrm>
            <a:off x="12340244" y="7311192"/>
            <a:ext cx="370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1FFA05A6-32A7-48BE-C028-3EC0AEA5D647}"/>
              </a:ext>
            </a:extLst>
          </p:cNvPr>
          <p:cNvCxnSpPr>
            <a:stCxn id="101" idx="3"/>
          </p:cNvCxnSpPr>
          <p:nvPr/>
        </p:nvCxnSpPr>
        <p:spPr>
          <a:xfrm>
            <a:off x="16325217" y="7350588"/>
            <a:ext cx="895671" cy="469482"/>
          </a:xfrm>
          <a:prstGeom prst="bentConnector3">
            <a:avLst>
              <a:gd name="adj1" fmla="val 1002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22955940-1F24-9AFE-C461-66503D90FFA0}"/>
              </a:ext>
            </a:extLst>
          </p:cNvPr>
          <p:cNvCxnSpPr>
            <a:stCxn id="102" idx="1"/>
          </p:cNvCxnSpPr>
          <p:nvPr/>
        </p:nvCxnSpPr>
        <p:spPr>
          <a:xfrm flipH="1" flipV="1">
            <a:off x="5030550" y="8995723"/>
            <a:ext cx="1424175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83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 cstate="print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6972300" y="9534525"/>
            <a:ext cx="4806000" cy="547688"/>
          </a:xfrm>
          <a:custGeom>
            <a:avLst/>
            <a:gdLst/>
            <a:ahLst/>
            <a:cxnLst/>
            <a:rect l="l" t="t" r="r" b="b"/>
            <a:pathLst>
              <a:path w="6408000" h="730250">
                <a:moveTo>
                  <a:pt x="0" y="0"/>
                </a:moveTo>
                <a:lnTo>
                  <a:pt x="6408000" y="0"/>
                </a:lnTo>
                <a:lnTo>
                  <a:pt x="64080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5" cstate="print">
              <a:alphaModFix amt="0"/>
            </a:blip>
            <a:stretch>
              <a:fillRect t="-120982" b="-120982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Society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print"/>
              <a:stretch>
                <a:fillRect b="1"/>
              </a:stretch>
            </a:blipFill>
          </p:spPr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66A206A8-9F34-E8D3-BCD8-7188A183AE35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04801" y="1712714"/>
            <a:ext cx="6012407" cy="530316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F21B7FE-32F5-1CAC-C540-B00180DD17B2}"/>
              </a:ext>
            </a:extLst>
          </p:cNvPr>
          <p:cNvSpPr txBox="1"/>
          <p:nvPr/>
        </p:nvSpPr>
        <p:spPr>
          <a:xfrm>
            <a:off x="499131" y="1775390"/>
            <a:ext cx="57838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17375E"/>
                </a:solidFill>
                <a:latin typeface="Calibri (MS) Bold" panose="020B0604020202020204" charset="0"/>
                <a:cs typeface="Calibri (MS) Bold" panose="020B0604020202020204" charset="0"/>
              </a:rPr>
              <a:t>OVERALL FEASIBILITY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46D9B4-68B8-25E9-9480-5F50EE68158D}"/>
              </a:ext>
            </a:extLst>
          </p:cNvPr>
          <p:cNvSpPr txBox="1"/>
          <p:nvPr/>
        </p:nvSpPr>
        <p:spPr>
          <a:xfrm>
            <a:off x="533400" y="2476500"/>
            <a:ext cx="57569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Profile Ledger: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Consent-based trainee records successfully map across diverse training timelines.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Evidence: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Merges government, employer, and user data signals to ensure high credential credibility.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Metrics: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Standardizes diverse career tracks into uniform cohort, provider, and district analytics.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B3B7D71-264F-BA2F-135C-316C2F9E7D3C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538415" y="1712714"/>
            <a:ext cx="5791201" cy="522734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F23CB59-12FE-F626-5DDD-DEF5E437DF3A}"/>
              </a:ext>
            </a:extLst>
          </p:cNvPr>
          <p:cNvSpPr txBox="1"/>
          <p:nvPr/>
        </p:nvSpPr>
        <p:spPr>
          <a:xfrm>
            <a:off x="6861839" y="1763635"/>
            <a:ext cx="5257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cap="all" dirty="0">
                <a:solidFill>
                  <a:srgbClr val="17375E"/>
                </a:solidFill>
                <a:latin typeface="Calibri (MS) Bold" panose="020B0604020202020204" charset="0"/>
                <a:cs typeface="Calibri (MS) Bold" panose="020B0604020202020204" charset="0"/>
              </a:rPr>
              <a:t>ECONOMIC FEASIBILITY</a:t>
            </a:r>
            <a:endParaRPr lang="en-IN" sz="3000" b="1" dirty="0">
              <a:solidFill>
                <a:srgbClr val="17375E"/>
              </a:solidFill>
              <a:latin typeface="Calibri (MS) Bold" panose="020B0604020202020204" charset="0"/>
              <a:cs typeface="Calibri (MS) Bold" panose="020B060402020202020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BA3E05-2B8B-28D7-F7EB-56D4194EAC5B}"/>
              </a:ext>
            </a:extLst>
          </p:cNvPr>
          <p:cNvSpPr txBox="1"/>
          <p:nvPr/>
        </p:nvSpPr>
        <p:spPr>
          <a:xfrm>
            <a:off x="6553200" y="2400300"/>
            <a:ext cx="57485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Low-Burden Collection: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notifications drastically minimize manual calling costs and human resources.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Infrastructure Waste: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Operates through API connectors on top of existing platforms without replacing current infrastructure.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Phased Rollout: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Begins with core outcome tracking before expanding to advanced verification algorithms.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256CFF-7432-F1E3-9D82-CB1AE34D6D83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550823" y="1712714"/>
            <a:ext cx="5494108" cy="523179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B0E97CF-C443-A925-E7A2-71210F23AF53}"/>
              </a:ext>
            </a:extLst>
          </p:cNvPr>
          <p:cNvSpPr txBox="1"/>
          <p:nvPr/>
        </p:nvSpPr>
        <p:spPr>
          <a:xfrm>
            <a:off x="12407840" y="1759995"/>
            <a:ext cx="56248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17375E"/>
                </a:solidFill>
                <a:latin typeface="Calibri (MS) Bold" panose="020B0604020202020204" charset="0"/>
                <a:cs typeface="Calibri (MS) Bold" panose="020B0604020202020204" charset="0"/>
              </a:rPr>
              <a:t>PRACTICAL VIABILITY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EE4D95-7F6D-5B2F-14C2-EFFFBE7F36C8}"/>
              </a:ext>
            </a:extLst>
          </p:cNvPr>
          <p:cNvSpPr txBox="1"/>
          <p:nvPr/>
        </p:nvSpPr>
        <p:spPr>
          <a:xfrm>
            <a:off x="12801600" y="2400300"/>
            <a:ext cx="5257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Passive-First Tracking: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Pulls authorized public infrastructure data signals first, using active follow-ups only as a backup.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Cross-corroborates input data to assign reliability levels before updating the dashboard.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Insight-Driven Policy: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Seamlessly translates identity continuity into automated, actionable course adjustments.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1EB0B9D-0F92-8AE2-E278-2C36E3DE0CAC}"/>
              </a:ext>
            </a:extLst>
          </p:cNvPr>
          <p:cNvSpPr/>
          <p:nvPr/>
        </p:nvSpPr>
        <p:spPr>
          <a:xfrm>
            <a:off x="533401" y="7077432"/>
            <a:ext cx="17449799" cy="250199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0B15AC-8400-44A8-3DC5-6E60AE2E7316}"/>
              </a:ext>
            </a:extLst>
          </p:cNvPr>
          <p:cNvSpPr txBox="1"/>
          <p:nvPr/>
        </p:nvSpPr>
        <p:spPr>
          <a:xfrm>
            <a:off x="6084200" y="7100308"/>
            <a:ext cx="6119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chemeClr val="tx2">
                    <a:lumMod val="75000"/>
                  </a:schemeClr>
                </a:solidFill>
                <a:latin typeface="Calibri (MS) Bold" panose="020B0604020202020204" charset="0"/>
                <a:cs typeface="Calibri (MS) Bold" panose="020B0604020202020204" charset="0"/>
              </a:rPr>
              <a:t>CHALLENGE → MITIGATION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B282B7-B73F-80D2-B6B2-4538722054BA}"/>
              </a:ext>
            </a:extLst>
          </p:cNvPr>
          <p:cNvSpPr/>
          <p:nvPr/>
        </p:nvSpPr>
        <p:spPr>
          <a:xfrm>
            <a:off x="5433136" y="7814558"/>
            <a:ext cx="4403203" cy="147658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>
                <a:solidFill>
                  <a:srgbClr val="DC2626"/>
                </a:solidFill>
              </a:defRPr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Incomplete Outcome Evidence</a:t>
            </a:r>
          </a:p>
          <a:p>
            <a:pPr>
              <a:defRPr sz="950">
                <a:solidFill>
                  <a:srgbClr val="DC2626"/>
                </a:solidFill>
              </a:defRPr>
            </a:pPr>
            <a:r>
              <a:rPr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Mitigation: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Evidence hierarchy + Source corroboration + UNKNOWN state preservation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40500B-2C26-C282-BB3D-C99FCA254304}"/>
              </a:ext>
            </a:extLst>
          </p:cNvPr>
          <p:cNvSpPr/>
          <p:nvPr/>
        </p:nvSpPr>
        <p:spPr>
          <a:xfrm>
            <a:off x="9990036" y="7823445"/>
            <a:ext cx="4267200" cy="143618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 External System Dependency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Mitigation:  Connector abstraction layer + independent core platform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E767D3-6617-48F8-90EE-4FEFD3128242}"/>
              </a:ext>
            </a:extLst>
          </p:cNvPr>
          <p:cNvSpPr/>
          <p:nvPr/>
        </p:nvSpPr>
        <p:spPr>
          <a:xfrm>
            <a:off x="14401800" y="7658100"/>
            <a:ext cx="3352799" cy="166678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>
                <a:solidFill>
                  <a:srgbClr val="DC2626"/>
                </a:solidFill>
              </a:defRPr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Privacy and Consent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950">
                <a:solidFill>
                  <a:srgbClr val="334155"/>
                </a:solidFill>
              </a:defRPr>
            </a:pPr>
            <a:r>
              <a:rPr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Consent-based collection + internal identifiers + minimum necessary data.</a:t>
            </a:r>
            <a:endParaRPr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87C8D-FEF4-0E22-BE39-C8E688FA4255}"/>
              </a:ext>
            </a:extLst>
          </p:cNvPr>
          <p:cNvSpPr/>
          <p:nvPr/>
        </p:nvSpPr>
        <p:spPr>
          <a:xfrm>
            <a:off x="849005" y="7817401"/>
            <a:ext cx="4403203" cy="147658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9144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IN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 ambiguity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Multi-anchor identity recovery + confidence thresholds + human review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058839" y="1034007"/>
            <a:ext cx="16459200" cy="1714500"/>
          </a:xfrm>
          <a:custGeom>
            <a:avLst/>
            <a:gdLst/>
            <a:ahLst/>
            <a:cxnLst/>
            <a:rect l="l" t="t" r="r" b="b"/>
            <a:pathLst>
              <a:path w="21945600" h="2286000">
                <a:moveTo>
                  <a:pt x="0" y="0"/>
                </a:moveTo>
                <a:lnTo>
                  <a:pt x="21945600" y="0"/>
                </a:lnTo>
                <a:lnTo>
                  <a:pt x="21945600" y="2286000"/>
                </a:lnTo>
                <a:lnTo>
                  <a:pt x="0" y="2286000"/>
                </a:lnTo>
                <a:close/>
              </a:path>
            </a:pathLst>
          </a:custGeom>
          <a:blipFill>
            <a:blip r:embed="rId3" cstate="print">
              <a:alphaModFix amt="0"/>
            </a:blip>
            <a:stretch>
              <a:fillRect t="-137056" b="-137056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 cstate="print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800" b="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Society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b="1"/>
              </a:stretch>
            </a:blip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4E40B63-5320-6468-C1C5-2186860F107D}"/>
              </a:ext>
            </a:extLst>
          </p:cNvPr>
          <p:cNvSpPr txBox="1"/>
          <p:nvPr/>
        </p:nvSpPr>
        <p:spPr>
          <a:xfrm>
            <a:off x="914400" y="-92869"/>
            <a:ext cx="16459200" cy="17359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6480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IMPACTS AND BENEFITS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0AEC40D1-A444-44A4-3AA2-B0011125C29B}"/>
              </a:ext>
            </a:extLst>
          </p:cNvPr>
          <p:cNvSpPr txBox="1"/>
          <p:nvPr/>
        </p:nvSpPr>
        <p:spPr>
          <a:xfrm>
            <a:off x="360743" y="950966"/>
            <a:ext cx="17050388" cy="17359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648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One Trainee's Journey To Better Training Decisions</a:t>
            </a:r>
          </a:p>
          <a:p>
            <a:pPr algn="ctr">
              <a:lnSpc>
                <a:spcPts val="6480"/>
              </a:lnSpc>
            </a:pPr>
            <a:endParaRPr lang="en-US" sz="4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08BADB-7E29-7A2E-1AAA-2435F8512B39}"/>
              </a:ext>
            </a:extLst>
          </p:cNvPr>
          <p:cNvSpPr/>
          <p:nvPr/>
        </p:nvSpPr>
        <p:spPr>
          <a:xfrm>
            <a:off x="4800600" y="2395198"/>
            <a:ext cx="4267200" cy="630393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8288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0F2240"/>
                </a:solidFill>
              </a:defRPr>
            </a:pPr>
            <a:r>
              <a:rPr lang="en-IN" sz="2800" b="1" dirty="0">
                <a:solidFill>
                  <a:srgbClr val="0F2240"/>
                </a:solidFill>
                <a:latin typeface="Calibri (MS) Bold" panose="020B0604020202020204" charset="0"/>
                <a:cs typeface="Calibri (MS) Bold" panose="020B0604020202020204" charset="0"/>
              </a:rPr>
              <a:t>Direct Impact </a:t>
            </a:r>
          </a:p>
          <a:p>
            <a:pPr algn="ctr">
              <a:defRPr sz="1400" b="1">
                <a:solidFill>
                  <a:srgbClr val="0F2240"/>
                </a:solidFill>
              </a:defRPr>
            </a:pPr>
            <a:r>
              <a:rPr lang="en-IN" sz="2800" b="1" dirty="0">
                <a:solidFill>
                  <a:srgbClr val="0F2240"/>
                </a:solidFill>
                <a:latin typeface="Calibri (MS) Bold" panose="020B0604020202020204" charset="0"/>
                <a:cs typeface="Calibri (MS) Bold" panose="020B0604020202020204" charset="0"/>
              </a:rPr>
              <a:t>on Target Users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Trainees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visibility into employment, retention, wages and livelihood progression after training.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Providers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to identify non-placement, attrition and skill mismatches and improve training outcomes.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Employers &amp; Ecosystem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visibility into skill availability, job-role relevance and workforce outcomes.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E138F1-9EA6-00B5-D32E-ACC5EF406A17}"/>
              </a:ext>
            </a:extLst>
          </p:cNvPr>
          <p:cNvSpPr/>
          <p:nvPr/>
        </p:nvSpPr>
        <p:spPr>
          <a:xfrm>
            <a:off x="9049597" y="2404980"/>
            <a:ext cx="4514003" cy="629415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8288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17375E"/>
                </a:solidFill>
                <a:latin typeface="Calibri (MS) Bold" panose="020B0604020202020204" charset="0"/>
                <a:cs typeface="Calibri (MS) Bold" panose="020B0604020202020204" charset="0"/>
              </a:rPr>
              <a:t>Economic &amp; Strategic Benefits</a:t>
            </a:r>
            <a:endParaRPr lang="en-IN" sz="2200" b="1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Smarter Resource Allocation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funding and interventions towards programmes, providers and skills demonstrating stronger outcomes.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Tracking Cost &amp; Burden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Automated, assisted and evidence-based follow-ups reduce repetitive manual outcome collection.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Measurable Public Value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employment, wage, retention and livelihood evidence demonstrates the impact of skilling investments.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86C7F5B-01EF-3165-CF34-FE6682722A2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74390" y="2400300"/>
            <a:ext cx="4426210" cy="6298034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90F216-B914-F2B6-BB1B-74153A4B569B}"/>
              </a:ext>
            </a:extLst>
          </p:cNvPr>
          <p:cNvSpPr/>
          <p:nvPr/>
        </p:nvSpPr>
        <p:spPr>
          <a:xfrm>
            <a:off x="13563600" y="2395198"/>
            <a:ext cx="4514003" cy="629415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82880" t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0F2240"/>
                </a:solidFill>
              </a:defRPr>
            </a:pPr>
            <a:r>
              <a:rPr lang="en-US" sz="2800" dirty="0">
                <a:solidFill>
                  <a:srgbClr val="17375E"/>
                </a:solidFill>
                <a:latin typeface="Calibri (MS) Bold" panose="020B0604020202020204" charset="0"/>
                <a:cs typeface="Calibri (MS) Bold" panose="020B0604020202020204" charset="0"/>
              </a:rPr>
              <a:t>Strategic Impact</a:t>
            </a:r>
          </a:p>
          <a:p>
            <a:pPr algn="ctr">
              <a:defRPr sz="1400" b="1">
                <a:solidFill>
                  <a:srgbClr val="0F2240"/>
                </a:solidFill>
              </a:defRPr>
            </a:pPr>
            <a:endParaRPr lang="en-US" sz="2800" dirty="0">
              <a:solidFill>
                <a:srgbClr val="17375E"/>
              </a:solidFill>
              <a:latin typeface="Calibri (MS) Bold" panose="020B0604020202020204" charset="0"/>
              <a:cs typeface="Calibri (MS) Bold" panose="020B0604020202020204" charset="0"/>
            </a:endParaRP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Outcome-Based Accountability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objective comparison of courses, providers, programmes and regions.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Skill-Gap Intelligence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Reveals recurring gaps between training delivered and real-world job requirements.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Policy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Transforms longitudinal outcomes into actionable intelligence for programme design, investment and policy.</a:t>
            </a:r>
          </a:p>
          <a:p>
            <a:pPr algn="ctr">
              <a:defRPr sz="1400" b="1">
                <a:solidFill>
                  <a:srgbClr val="0F2240"/>
                </a:solidFill>
              </a:defRPr>
            </a:pPr>
            <a:endParaRPr lang="en-IN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205ADF-EEE6-EE97-4135-3139ED081369}"/>
              </a:ext>
            </a:extLst>
          </p:cNvPr>
          <p:cNvSpPr/>
          <p:nvPr/>
        </p:nvSpPr>
        <p:spPr>
          <a:xfrm>
            <a:off x="9913959" y="1723911"/>
            <a:ext cx="8103675" cy="68555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2"/>
                </a:solidFill>
                <a:latin typeface="Agency FB" panose="020B0503020202020204" pitchFamily="34" charset="0"/>
              </a:rPr>
              <a:t>Technology architecture 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7A85D256-A135-89FF-0E82-D7503878494C}"/>
              </a:ext>
            </a:extLst>
          </p:cNvPr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EB22E979-9133-2C44-908D-7CC258F7C880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3" name="Group 4">
            <a:extLst>
              <a:ext uri="{FF2B5EF4-FFF2-40B4-BE49-F238E27FC236}">
                <a16:creationId xmlns:a16="http://schemas.microsoft.com/office/drawing/2014/main" id="{787E4216-9745-F02D-1614-D7AC94BD732C}"/>
              </a:ext>
            </a:extLst>
          </p:cNvPr>
          <p:cNvGrpSpPr/>
          <p:nvPr/>
        </p:nvGrpSpPr>
        <p:grpSpPr>
          <a:xfrm>
            <a:off x="475612" y="359321"/>
            <a:ext cx="16459200" cy="1714500"/>
            <a:chOff x="0" y="0"/>
            <a:chExt cx="21945600" cy="2286000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8EA2A1E-BFE2-154F-4D6B-26B99EE066B8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75ECAB90-A546-54ED-4CED-FD8B85B0A514}"/>
                </a:ext>
              </a:extLst>
            </p:cNvPr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4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RESEARCH-GROUNDED. TECHNOLOGY-READY.</a:t>
              </a:r>
            </a:p>
            <a:p>
              <a:pPr algn="ctr">
                <a:lnSpc>
                  <a:spcPts val="6480"/>
                </a:lnSpc>
              </a:pPr>
              <a:endPara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23" name="Group 8">
            <a:extLst>
              <a:ext uri="{FF2B5EF4-FFF2-40B4-BE49-F238E27FC236}">
                <a16:creationId xmlns:a16="http://schemas.microsoft.com/office/drawing/2014/main" id="{F3513D01-1E87-8180-E91F-71961E636D5B}"/>
              </a:ext>
            </a:extLst>
          </p:cNvPr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2B7B9E0-6FD9-8170-0F95-84DA3154BC27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 cstate="print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3077AEEA-57F4-1B0B-A252-9F1D40F76455}"/>
                </a:ext>
              </a:extLst>
            </p:cNvPr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30" name="Group 14">
            <a:extLst>
              <a:ext uri="{FF2B5EF4-FFF2-40B4-BE49-F238E27FC236}">
                <a16:creationId xmlns:a16="http://schemas.microsoft.com/office/drawing/2014/main" id="{1148FBCE-F526-34BB-7360-45A7B9C7D204}"/>
              </a:ext>
            </a:extLst>
          </p:cNvPr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31" name="Freeform 15" descr="Your startup LOGO">
              <a:extLst>
                <a:ext uri="{FF2B5EF4-FFF2-40B4-BE49-F238E27FC236}">
                  <a16:creationId xmlns:a16="http://schemas.microsoft.com/office/drawing/2014/main" id="{1A0171A3-3108-B210-DD05-AA86FB9D95A1}"/>
                </a:ext>
              </a:extLst>
            </p:cNvPr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D930119F-BE4A-AE30-20C4-F3CAE0F83FB2}"/>
                </a:ext>
              </a:extLst>
            </p:cNvPr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Society</a:t>
              </a:r>
            </a:p>
          </p:txBody>
        </p:sp>
      </p:grpSp>
      <p:grpSp>
        <p:nvGrpSpPr>
          <p:cNvPr id="33" name="Group 17">
            <a:extLst>
              <a:ext uri="{FF2B5EF4-FFF2-40B4-BE49-F238E27FC236}">
                <a16:creationId xmlns:a16="http://schemas.microsoft.com/office/drawing/2014/main" id="{B328469B-D8C3-6A98-8D05-CA690929ABD0}"/>
              </a:ext>
            </a:extLst>
          </p:cNvPr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DBFE97A5-640E-186B-37A7-354CCB8C3B69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b="1"/>
              </a:stretch>
            </a:blipFill>
          </p:spPr>
        </p:sp>
      </p:grpSp>
      <p:pic>
        <p:nvPicPr>
          <p:cNvPr id="35" name="Picture 34" descr="AI generated image">
            <a:extLst>
              <a:ext uri="{FF2B5EF4-FFF2-40B4-BE49-F238E27FC236}">
                <a16:creationId xmlns:a16="http://schemas.microsoft.com/office/drawing/2014/main" id="{41B22D4B-56E8-360B-00A6-78757194EA4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728273" y="2530351"/>
            <a:ext cx="8475046" cy="5996162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92E3D81-CD3E-3C0A-D029-83F9CA45CE19}"/>
              </a:ext>
            </a:extLst>
          </p:cNvPr>
          <p:cNvSpPr/>
          <p:nvPr/>
        </p:nvSpPr>
        <p:spPr>
          <a:xfrm>
            <a:off x="1421031" y="1723911"/>
            <a:ext cx="8103675" cy="68555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2"/>
                </a:solidFill>
                <a:latin typeface="Agency FB" panose="020B0503020202020204" pitchFamily="34" charset="0"/>
              </a:rPr>
              <a:t>Research &amp; References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DB73B8-6BDA-A4D4-4F32-318114EECC59}"/>
              </a:ext>
            </a:extLst>
          </p:cNvPr>
          <p:cNvSpPr/>
          <p:nvPr/>
        </p:nvSpPr>
        <p:spPr>
          <a:xfrm>
            <a:off x="685800" y="2666998"/>
            <a:ext cx="8851415" cy="60583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99A335-6643-64A7-B5AF-25EC25787751}"/>
              </a:ext>
            </a:extLst>
          </p:cNvPr>
          <p:cNvSpPr txBox="1"/>
          <p:nvPr/>
        </p:nvSpPr>
        <p:spPr>
          <a:xfrm>
            <a:off x="876138" y="2785259"/>
            <a:ext cx="849646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Problem &amp; Policy Context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Government skilling &amp; employment outcome documentation-</a:t>
            </a:r>
            <a:r>
              <a:rPr lang="en-IN" sz="2000" u="sng" dirty="0">
                <a:solidFill>
                  <a:schemeClr val="tx2">
                    <a:lumMod val="60000"/>
                    <a:lumOff val="40000"/>
                  </a:schemeClr>
                </a:solidFill>
                <a:hlinkClick r:id="rId7"/>
              </a:rPr>
              <a:t>https://www.niti.gov.in/node/2397</a:t>
            </a:r>
            <a:endParaRPr lang="en-IN" sz="2000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PMKVY / Skill India Digital ecosystem documentation-</a:t>
            </a:r>
            <a:r>
              <a:rPr lang="en-IN" sz="2000" dirty="0">
                <a:hlinkClick r:id="rId7"/>
              </a:rPr>
              <a:t>https://www.skillindiadigital.gov.in/</a:t>
            </a:r>
            <a:endParaRPr lang="en-IN" sz="2000" dirty="0"/>
          </a:p>
          <a:p>
            <a:r>
              <a:rPr lang="en-IN" sz="2000" b="1" dirty="0">
                <a:solidFill>
                  <a:schemeClr val="tx2"/>
                </a:solidFill>
              </a:rPr>
              <a:t>Identity / Digital Infrastructure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UIDAI — Aadhaar &amp; Digital Identity Documentation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 Digi Locker — Digital Document Infrastructure </a:t>
            </a:r>
            <a:r>
              <a:rPr lang="en-IN" sz="2000" dirty="0">
                <a:hlinkClick r:id="rId8"/>
              </a:rPr>
              <a:t>https://www.digilocker.gov.in/ 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API Setup - Government API Integration Platform -</a:t>
            </a:r>
            <a:r>
              <a:rPr lang="en-IN" sz="2000" dirty="0">
                <a:hlinkClick r:id="rId9"/>
              </a:rPr>
              <a:t>https://apisetu.gov.in/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Udyam — MSME Registration &amp; Enterprise Identity 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Technology / Standards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W3C — Verifiable Credentials Data Model-</a:t>
            </a:r>
            <a:r>
              <a:rPr lang="en-IN" sz="2000" dirty="0">
                <a:hlinkClick r:id="rId10"/>
              </a:rPr>
              <a:t>https://www.w3.org/TR/vc-data-model-2.0/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Graph-based Identity &amp; Entity Resolution Research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Longitudinal Employment Outcome Research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Explainable &amp; Evidence-Aware Machine Learning Literature-</a:t>
            </a:r>
            <a:r>
              <a:rPr lang="en-IN" sz="2000" dirty="0">
                <a:hlinkClick r:id="rId11"/>
              </a:rPr>
              <a:t>https://arxiv.org/list/cs.AI/recent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79F8073-F1A5-7FBE-790C-EB1B8F60474B}"/>
              </a:ext>
            </a:extLst>
          </p:cNvPr>
          <p:cNvSpPr/>
          <p:nvPr/>
        </p:nvSpPr>
        <p:spPr>
          <a:xfrm>
            <a:off x="5048890" y="8731300"/>
            <a:ext cx="9067800" cy="10464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2"/>
                </a:solidFill>
                <a:latin typeface="Cinzel Decorative Black" panose="00000A00000000000000" pitchFamily="2" charset="0"/>
              </a:rPr>
              <a:t>The Identity Changes </a:t>
            </a:r>
          </a:p>
          <a:p>
            <a:pPr algn="ctr"/>
            <a:r>
              <a:rPr lang="en-IN" sz="3200" dirty="0">
                <a:solidFill>
                  <a:schemeClr val="tx2"/>
                </a:solidFill>
                <a:latin typeface="Cinzel Decorative Black" panose="00000A00000000000000" pitchFamily="2" charset="0"/>
              </a:rPr>
              <a:t>The Training History shouldn’t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1079</Words>
  <Application>Microsoft Office PowerPoint</Application>
  <PresentationFormat>Custom</PresentationFormat>
  <Paragraphs>229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Times New Roman</vt:lpstr>
      <vt:lpstr>Arial</vt:lpstr>
      <vt:lpstr>Agency FB</vt:lpstr>
      <vt:lpstr>Calibri</vt:lpstr>
      <vt:lpstr>Wingdings</vt:lpstr>
      <vt:lpstr>Times New Roman Bold</vt:lpstr>
      <vt:lpstr>Garamond Bold</vt:lpstr>
      <vt:lpstr>Calibri (MS) Bold</vt:lpstr>
      <vt:lpstr>Calibri (MS)</vt:lpstr>
      <vt:lpstr>Arimo Bold</vt:lpstr>
      <vt:lpstr>Cinzel Decorative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dc:creator>Vishwaa T</dc:creator>
  <cp:lastModifiedBy>Vishwaa T</cp:lastModifiedBy>
  <cp:revision>73</cp:revision>
  <dcterms:created xsi:type="dcterms:W3CDTF">2006-08-16T00:00:00Z</dcterms:created>
  <dcterms:modified xsi:type="dcterms:W3CDTF">2026-09-10T08:23:07Z</dcterms:modified>
  <dc:identifier>DAHTyexd7wo</dc:identifier>
</cp:coreProperties>
</file>